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2E"/>
          </a:solidFill>
          <a:ln>
            <a:solidFill>
              <a:srgbClr val="13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73152" cy="3291840"/>
          </a:xfrm>
          <a:prstGeom prst="rect">
            <a:avLst/>
          </a:prstGeom>
          <a:solidFill>
            <a:srgbClr val="38BDF8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2F1F38F-C8AB-4659-982D-EE7A2D5E2776}"/>
              </a:ext>
            </a:extLst>
          </p:cNvPr>
          <p:cNvSpPr txBox="1"/>
          <p:nvPr/>
        </p:nvSpPr>
        <p:spPr>
          <a:xfrm>
            <a:off x="1188720" y="1645920"/>
            <a:ext cx="3350611" cy="1981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1300" b="1">
                <a:solidFill>
                  <a:srgbClr val="38BDF8"/>
                </a:solidFill>
                <a:latin typeface="Pretendard"/>
              </a:defRPr>
            </a:pPr>
            <a:r>
              <a:rPr/>
              <a:t>HEALTHCARE DATA ENGINEERING &amp; ANALYTICS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2148840"/>
            <a:ext cx="10058400" cy="109728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3800" b="1">
                <a:solidFill>
                  <a:srgbClr val="F8FAFC"/>
                </a:solidFill>
                <a:latin typeface="Pretendard"/>
              </a:defRPr>
            </a:pPr>
            <a:r>
              <a:t>"자원은 충분한데 병원은 왜 멈추는가"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3429000"/>
            <a:ext cx="10058400" cy="54864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2100" b="1">
                <a:solidFill>
                  <a:srgbClr val="38BDF8"/>
                </a:solidFill>
                <a:latin typeface="Pretendard"/>
              </a:defRPr>
            </a:pPr>
            <a:r>
              <a:t>데이터 기반 의료 자원 불균형 해소 및 외래 프로세스 최적화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4114800"/>
            <a:ext cx="10058400" cy="73152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spcAft>
                <a:spcPts val="600"/>
              </a:spcAft>
              <a:defRPr sz="1350">
                <a:solidFill>
                  <a:srgbClr val="CBD5E1"/>
                </a:solidFill>
                <a:latin typeface="Pretendard"/>
              </a:defRPr>
            </a:pPr>
            <a:r>
              <a:t>외래 EMR 전주기(접수·진료·수납) 1,157만 건 데이터 분석과 추가 비용 0원의 자원 재배치 실증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499839B-28AC-4B91-A8D6-90A9D8D13A9B}"/>
              </a:ext>
            </a:extLst>
          </p:cNvPr>
          <p:cNvSpPr txBox="1"/>
          <p:nvPr/>
        </p:nvSpPr>
        <p:spPr>
          <a:xfrm>
            <a:off x="7242528" y="5806422"/>
            <a:ext cx="4826607" cy="365760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>
              <a:defRPr sz="950">
                <a:solidFill>
                  <a:srgbClr val="94A3B8"/>
                </a:solidFill>
                <a:latin typeface="Pretendard"/>
              </a:defRPr>
            </a:pPr>
            <a:r>
              <a:rPr sz="1800"/>
              <a:t>1석 3조 · 외래 EMR 데이터 분석 최종 보고서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EA402B-9456-46CB-BDA8-9DD469BCB569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1. OVERVIEW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0C4E5D-DB70-4CEE-9626-622EF7FEBEE1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1.1. 대주제 문제 제기 및 4대 관점의 유기적 결합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4865D64-EC74-4EBC-B975-7B6447478FD2}"/>
              </a:ext>
            </a:extLst>
          </p:cNvPr>
          <p:cNvSpPr txBox="1"/>
          <p:nvPr/>
        </p:nvSpPr>
        <p:spPr>
          <a:xfrm>
            <a:off x="731520" y="1133856"/>
            <a:ext cx="10725912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rPr/>
              <a:t>외래 진료 라이프사이클 전주기(데이터 인프라 ➔ 접수 ➔ 진료 ➔ 수납)를 따라 4대 관점에서 입체적으로 분석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5CBF23-EDC0-4D03-B02D-F93EF78531CD}"/>
              </a:ext>
            </a:extLst>
          </p:cNvPr>
          <p:cNvSpPr/>
          <p:nvPr/>
        </p:nvSpPr>
        <p:spPr>
          <a:xfrm>
            <a:off x="731520" y="1600200"/>
            <a:ext cx="10725912" cy="1234440"/>
          </a:xfrm>
          <a:prstGeom prst="rect">
            <a:avLst/>
          </a:prstGeom>
          <a:solidFill>
            <a:srgbClr val="F1F5F9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228600" rIns="228600"/>
          <a:lstStyle/>
          <a:p>
            <a:pPr algn="ctr">
              <a:spcAft>
                <a:spcPts val="600"/>
              </a:spcAft>
              <a:defRPr sz="1350" b="1">
                <a:solidFill>
                  <a:srgbClr val="0284C7"/>
                </a:solidFill>
                <a:latin typeface="Pretendard"/>
              </a:defRPr>
            </a:pPr>
            <a:r>
              <a:rPr/>
              <a:t>🚨 대주제: "자원은 충분한데 병원은 왜 멈추는가"</a:t>
            </a:r>
          </a:p>
          <a:p>
            <a:pPr>
              <a:lnSpc>
                <a:spcPct val="130000"/>
              </a:lnSpc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전국 490개 병원, 4,748명 전문의 인프라와 청구-수납 시스템에도 불구하고, 현장은 접수 거절(24.6%), 대기시간 폭증(19.4분), 창구 업무 과부하(+124%)로 마비.</a:t>
            </a:r>
            <a:br/>
            <a:r>
              <a:rPr/>
              <a:t>본질은 자원 총량 부족이 아니라, '기록 분산(A/B)·시간대 쏠림(접수)·의사 편차(8.0배)·수기 대조(수납)'로 인한 구조적 자원 불균형과 프로세스 단절.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14E4099C-48EC-4460-9242-B455FC2AE239}"/>
              </a:ext>
            </a:extLst>
          </p:cNvPr>
          <p:cNvSpPr/>
          <p:nvPr/>
        </p:nvSpPr>
        <p:spPr>
          <a:xfrm>
            <a:off x="731520" y="2999232"/>
            <a:ext cx="2542032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bIns="201168" lIns="182880" r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0284C7"/>
                </a:solidFill>
                <a:latin typeface="Pretendard"/>
              </a:defRPr>
            </a:pPr>
            <a:r>
              <a:rPr sz="1300"/>
              <a:t>관점① 인프라</a:t>
            </a:r>
          </a:p>
          <a:p>
            <a:pPr algn="ctr">
              <a:spcAft>
                <a:spcPts val="1400"/>
              </a:spcAft>
              <a:defRPr sz="1350" b="1">
                <a:solidFill>
                  <a:srgbClr val="0F172A"/>
                </a:solidFill>
                <a:latin typeface="Pretendard"/>
              </a:defRPr>
            </a:pPr>
            <a:r>
              <a:rPr/>
              <a:t>레거시 A/B 시스템 통합</a:t>
            </a:r>
          </a:p>
          <a:p>
            <a:pPr>
              <a:lnSpc>
                <a:spcPct val="140000"/>
              </a:lnSpc>
              <a:defRPr sz="1050">
                <a:solidFill>
                  <a:srgbClr val="475569"/>
                </a:solidFill>
                <a:latin typeface="Pretendard"/>
              </a:defRPr>
            </a:pPr>
            <a:r>
              <a:rPr/>
              <a:t>• 환자 76.7%가 교차 이용하나 명단 분리</a:t>
            </a:r>
            <a:br/>
            <a:r>
              <a:rPr/>
              <a:t>• 단가표 7행 오류 ➔ 11.5만 건 파급</a:t>
            </a:r>
            <a:br/>
            <a:r>
              <a:rPr/>
              <a:t>➔ 단일 마스터 및 기준정보 통합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F07FEE0-4065-4487-8538-DA043164333B}"/>
              </a:ext>
            </a:extLst>
          </p:cNvPr>
          <p:cNvSpPr/>
          <p:nvPr/>
        </p:nvSpPr>
        <p:spPr>
          <a:xfrm>
            <a:off x="3456432" y="2999232"/>
            <a:ext cx="2542032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bIns="201168" lIns="182880" r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059669"/>
                </a:solidFill>
                <a:latin typeface="Pretendard"/>
              </a:defRPr>
            </a:pPr>
            <a:r>
              <a:rPr sz="1300"/>
              <a:t>관점② 외래 앞단: 접수</a:t>
            </a:r>
          </a:p>
          <a:p>
            <a:pPr algn="ctr">
              <a:spcAft>
                <a:spcPts val="1400"/>
              </a:spcAft>
              <a:defRPr sz="1350" b="1">
                <a:solidFill>
                  <a:srgbClr val="0F172A"/>
                </a:solidFill>
                <a:latin typeface="Pretendard"/>
              </a:defRPr>
            </a:pPr>
            <a:r>
              <a:rPr/>
              <a:t>현장접수 불가 패턴 진단</a:t>
            </a:r>
          </a:p>
          <a:p>
            <a:pPr>
              <a:lnSpc>
                <a:spcPct val="140000"/>
              </a:lnSpc>
              <a:defRPr sz="1050">
                <a:solidFill>
                  <a:srgbClr val="475569"/>
                </a:solidFill>
                <a:latin typeface="Pretendard"/>
              </a:defRPr>
            </a:pPr>
            <a:r>
              <a:rPr/>
              <a:t>• 워크인 24.6% 접수불가 (피크 구간 50%)</a:t>
            </a:r>
            <a:br/>
            <a:r>
              <a:rPr/>
              <a:t>• 전체 접수불가의 34%가 4개 구간에 집중</a:t>
            </a:r>
            <a:br/>
            <a:r>
              <a:rPr/>
              <a:t>➔ 사전 방문 안내 알림 및 예약 전환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5F432F7E-D31A-4422-8CA8-9391203A6655}"/>
              </a:ext>
            </a:extLst>
          </p:cNvPr>
          <p:cNvSpPr/>
          <p:nvPr/>
        </p:nvSpPr>
        <p:spPr>
          <a:xfrm>
            <a:off x="6181344" y="2999232"/>
            <a:ext cx="2542032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bIns="201168" lIns="182880" r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0284C7"/>
                </a:solidFill>
                <a:latin typeface="Pretendard"/>
              </a:defRPr>
            </a:pPr>
            <a:r>
              <a:rPr sz="1300"/>
              <a:t>관점③ 외래 중단: 진료 (중점)</a:t>
            </a:r>
          </a:p>
          <a:p>
            <a:pPr algn="ctr">
              <a:spcAft>
                <a:spcPts val="1400"/>
              </a:spcAft>
              <a:defRPr sz="1350" b="1">
                <a:solidFill>
                  <a:srgbClr val="0F172A"/>
                </a:solidFill>
                <a:latin typeface="Pretendard"/>
              </a:defRPr>
            </a:pPr>
            <a:r>
              <a:rPr/>
              <a:t>의사 진료 배치 최적화</a:t>
            </a:r>
          </a:p>
          <a:p>
            <a:pPr>
              <a:lnSpc>
                <a:spcPct val="140000"/>
              </a:lnSpc>
              <a:defRPr sz="1050">
                <a:solidFill>
                  <a:srgbClr val="475569"/>
                </a:solidFill>
                <a:latin typeface="Pretendard"/>
              </a:defRPr>
            </a:pPr>
            <a:r>
              <a:rPr/>
              <a:t>• 의사당 8.0배 양극화 (과밀 대기 19.4분)</a:t>
            </a:r>
            <a:br/>
            <a:r>
              <a:rPr/>
              <a:t>• 동일 진료과 1:1 순환 파견 시뮬레이션</a:t>
            </a:r>
            <a:br/>
            <a:r>
              <a:rPr/>
              <a:t>➔ 비용 0원 순환 재배치 (대기 -43.2% 단축)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F202C285-6009-4ADC-91CE-4A057B7EB3F7}"/>
              </a:ext>
            </a:extLst>
          </p:cNvPr>
          <p:cNvSpPr/>
          <p:nvPr/>
        </p:nvSpPr>
        <p:spPr>
          <a:xfrm>
            <a:off x="8906256" y="2999232"/>
            <a:ext cx="2542032" cy="31546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01168" bIns="201168" lIns="182880" rIns="182880"/>
          <a:lstStyle/>
          <a:p>
            <a:pPr algn="ctr">
              <a:spcAft>
                <a:spcPts val="600"/>
              </a:spcAft>
              <a:defRPr sz="1150" b="1">
                <a:solidFill>
                  <a:srgbClr val="7C3AED"/>
                </a:solidFill>
                <a:latin typeface="Pretendard"/>
              </a:defRPr>
            </a:pPr>
            <a:r>
              <a:rPr sz="1300"/>
              <a:t>관점④ 외래 뒷단: 수납</a:t>
            </a:r>
          </a:p>
          <a:p>
            <a:pPr algn="ctr">
              <a:spcAft>
                <a:spcPts val="1400"/>
              </a:spcAft>
              <a:defRPr sz="1350" b="1">
                <a:solidFill>
                  <a:srgbClr val="0F172A"/>
                </a:solidFill>
                <a:latin typeface="Pretendard"/>
              </a:defRPr>
            </a:pPr>
            <a:r>
              <a:rPr/>
              <a:t>수납 대사 &amp; 창구 복잡도</a:t>
            </a:r>
          </a:p>
          <a:p>
            <a:pPr>
              <a:lnSpc>
                <a:spcPct val="140000"/>
              </a:lnSpc>
              <a:defRPr sz="1050">
                <a:solidFill>
                  <a:srgbClr val="475569"/>
                </a:solidFill>
                <a:latin typeface="Pretendard"/>
              </a:defRPr>
            </a:pPr>
            <a:r>
              <a:rPr/>
              <a:t>• 차액 0원 뒤 47.4% 복수거래 수기 대조</a:t>
            </a:r>
            <a:br/>
            <a:r>
              <a:rPr/>
              <a:t>• 확인 절차 폭증으로 창구 병목 발생</a:t>
            </a:r>
            <a:br/>
            <a:r>
              <a:rPr/>
              <a:t>➔ 통합 대시보드 &amp; 조건부 재확인 (21.5인일 절감)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665E0C6-A339-450D-A51C-9772D8E483DF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2.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FED67B1-017E-431A-96C8-C55225E4257B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2.1. 데이터 기술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2542032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ctr">
              <a:spcAft>
                <a:spcPts val="400"/>
              </a:spcAft>
              <a:defRPr sz="2400" b="1">
                <a:solidFill>
                  <a:srgbClr val="0284C7"/>
                </a:solidFill>
                <a:latin typeface="Pretendard"/>
              </a:defRPr>
            </a:pPr>
            <a:r>
              <a:t>1,157만</a:t>
            </a:r>
          </a:p>
          <a:p>
            <a:pPr algn="ctr">
              <a:defRPr sz="1100" b="1">
                <a:solidFill>
                  <a:srgbClr val="475569"/>
                </a:solidFill>
                <a:latin typeface="Pretendard"/>
              </a:defRPr>
            </a:pPr>
            <a:r>
              <a:t>전체 원천 트랜잭션 규모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72768"/>
            <a:ext cx="2542032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ctr">
              <a:spcAft>
                <a:spcPts val="400"/>
              </a:spcAft>
              <a:defRPr sz="2400" b="1">
                <a:solidFill>
                  <a:srgbClr val="0284C7"/>
                </a:solidFill>
                <a:latin typeface="Pretendard"/>
              </a:defRPr>
            </a:pPr>
            <a:r>
              <a:t>17개 / 119개</a:t>
            </a:r>
          </a:p>
          <a:p>
            <a:pPr algn="ctr">
              <a:defRPr sz="1100" b="1">
                <a:solidFill>
                  <a:srgbClr val="475569"/>
                </a:solidFill>
                <a:latin typeface="Pretendard"/>
              </a:defRPr>
            </a:pPr>
            <a:r>
              <a:t>전사 테이블 수 / 컬럼 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72768"/>
            <a:ext cx="2542032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ctr">
              <a:spcAft>
                <a:spcPts val="400"/>
              </a:spcAft>
              <a:defRPr sz="2400" b="1">
                <a:solidFill>
                  <a:srgbClr val="0284C7"/>
                </a:solidFill>
                <a:latin typeface="Pretendard"/>
              </a:defRPr>
            </a:pPr>
            <a:r>
              <a:t>490개소</a:t>
            </a:r>
          </a:p>
          <a:p>
            <a:pPr algn="ctr">
              <a:defRPr sz="1100" b="1">
                <a:solidFill>
                  <a:srgbClr val="475569"/>
                </a:solidFill>
                <a:latin typeface="Pretendard"/>
              </a:defRPr>
            </a:pPr>
            <a:r>
              <a:t>분석 대상 의료기관 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72768"/>
            <a:ext cx="2542032" cy="114300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28016" bIns="109728" lIns="146304" rIns="146304"/>
          <a:lstStyle/>
          <a:p>
            <a:pPr algn="ctr">
              <a:spcAft>
                <a:spcPts val="400"/>
              </a:spcAft>
              <a:defRPr sz="2400" b="1">
                <a:solidFill>
                  <a:srgbClr val="0284C7"/>
                </a:solidFill>
                <a:latin typeface="Pretendard"/>
              </a:defRPr>
            </a:pPr>
            <a:r>
              <a:t>4,748명</a:t>
            </a:r>
          </a:p>
          <a:p>
            <a:pPr algn="ctr">
              <a:defRPr sz="1100" b="1">
                <a:solidFill>
                  <a:srgbClr val="475569"/>
                </a:solidFill>
                <a:latin typeface="Pretendard"/>
              </a:defRPr>
            </a:pPr>
            <a:r>
              <a:t>외래 전문의 인력 풀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2FCE8B8-5E1C-45DB-9D50-DF7F464C104A}"/>
              </a:ext>
            </a:extLst>
          </p:cNvPr>
          <p:cNvGraphicFramePr>
            <a:graphicFrameLocks noGrp="1"/>
          </p:cNvGraphicFramePr>
          <p:nvPr/>
        </p:nvGraphicFramePr>
        <p:xfrm>
          <a:off x="731520" y="2907792"/>
          <a:ext cx="10725912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92476"/>
                <a:gridCol w="3065431"/>
                <a:gridCol w="1724306"/>
                <a:gridCol w="4243699"/>
              </a:tblGrid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10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도메인 영역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10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주요 테이블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10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트랜잭션 크기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10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데이터 성격 및 핵심 필드 역할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① 의료기관 및 의료진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hospitals, departments, doctors, doctor_assignments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490개 병원 / 4,748명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병원 종별 기준정보, 진료과 매핑, 의사 고용 형태 및 유효기간 관리 (FTE 정원)</a:t>
                      </a:r>
                    </a:p>
                  </a:txBody>
                  <a:tcPr marT="73152" marB="73152" marL="109728" marR="109728" anchor="ctr"/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② 외래 세션 및 예약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clinic_sessions, appointment_slots, appointments, events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718만 슬롯 / 95만 예약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외래 운영 일정, 타임슬롯 기반 사전 예약 및 상태 변경 이력 (생성·완료·취소·노쇼)</a:t>
                      </a:r>
                    </a:p>
                  </a:txBody>
                  <a:tcPr marT="73152" marB="73152" marL="109728" marR="109728" anchor="ctr"/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③ 접수 및 임상 진료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patients, checkins, encounters, encounter_services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101만 접수 / 61만 진료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당일 환자 도착 확인, 창구 대기시간, 의사 진료 기록 및 1:3 수가 처치 매핑</a:t>
                      </a:r>
                    </a:p>
                  </a:txBody>
                  <a:tcPr marT="73152" marB="73152" marL="109728" marR="109728" anchor="ctr"/>
                </a:tc>
              </a:tr>
              <a:tr h="649224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④ 원무 수납 및 코드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payments (결제·환불), code_dictionary, legacy_code_mappings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89만 결제 / 183만 처치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진료비 수납 트랜잭션, 본인부담금, 환불 내역 및 표준 EDI 수가 코드 사전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0C12BEC-F2AD-47F5-BEAF-35914582DA0C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2.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6C1A6B-5C3D-409A-A96A-F74381CD64D3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2.2.ERD 구조도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EF004BA-5BE5-4F05-8A3C-4B819054E5AA}"/>
              </a:ext>
            </a:extLst>
          </p:cNvPr>
          <p:cNvSpPr txBox="1"/>
          <p:nvPr/>
        </p:nvSpPr>
        <p:spPr>
          <a:xfrm>
            <a:off x="731520" y="1133856"/>
            <a:ext cx="10725912" cy="167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>
                <a:solidFill>
                  <a:srgbClr val="475569"/>
                </a:solidFill>
                <a:latin typeface="Pretendard"/>
              </a:defRPr>
            </a:pPr>
            <a:r>
              <a:rPr/>
              <a:t>ERD 상에서 4대 핵심 도메인 클러스터 영역을 직접 시각화하여, 17개 테이블의 E2E 연계 체계를 직관적으로 입증</a:t>
            </a:r>
          </a:p>
        </p:txBody>
      </p:sp>
      <p:pic>
        <p:nvPicPr>
          <p:cNvPr id="6" name="Picture 5" descr="hospital_erd_diagram.png">
            <a:extLst>
              <a:ext uri="{FF2B5EF4-FFF2-40B4-BE49-F238E27FC236}">
                <a16:creationId xmlns:a16="http://schemas.microsoft.com/office/drawing/2014/main" id="{206C59E7-A4A8-4305-BD4E-538AED14495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3749"/>
          <a:stretch>
            <a:fillRect/>
          </a:stretch>
        </p:blipFill>
        <p:spPr>
          <a:xfrm>
            <a:off x="731520" y="1600200"/>
            <a:ext cx="5229266" cy="45262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F33C1D0-41FD-4CFB-856F-4584CA76E90C}"/>
              </a:ext>
            </a:extLst>
          </p:cNvPr>
          <p:cNvSpPr/>
          <p:nvPr/>
        </p:nvSpPr>
        <p:spPr>
          <a:xfrm>
            <a:off x="7315210" y="1600200"/>
            <a:ext cx="3685032" cy="4526280"/>
          </a:xfrm>
          <a:prstGeom prst="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82880" bIns="164592" lIns="201168" rIns="201168"/>
          <a:lstStyle/>
          <a:p>
            <a:pPr algn="ctr">
              <a:spcAft>
                <a:spcPts val="800"/>
              </a:spcAft>
              <a:defRPr sz="1250" b="1">
                <a:solidFill>
                  <a:srgbClr val="059669"/>
                </a:solidFill>
                <a:latin typeface="Pretendard"/>
              </a:defRPr>
            </a:pPr>
            <a:r>
              <a:rPr/>
              <a:t>🏗️ 4대 핵심 도메인 클러스터 연계 체계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① 병원·의료진 기준영역 (Blue)</a:t>
            </a:r>
            <a:br/>
            <a:r>
              <a:rPr sz="1200"/>
              <a:t>   hospitals, doctors, doctor_assignments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② 세션·예약 트랜잭션 (Amber)</a:t>
            </a:r>
            <a:br/>
            <a:r>
              <a:rPr sz="1200"/>
              <a:t>   clinic_sessions ➔ slots ➔ appointments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③ 환자·접수·진료 영역 (Green)</a:t>
            </a:r>
            <a:br/>
            <a:r>
              <a:rPr sz="1200"/>
              <a:t>   checkins ➔ encounters ➔ services</a:t>
            </a:r>
          </a:p>
          <a:p>
            <a:pPr>
              <a:lnSpc>
                <a:spcPct val="130000"/>
              </a:lnSpc>
              <a:spcAft>
                <a:spcPts val="6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④ 수가·수납 재무 영역 (Purple)</a:t>
            </a:r>
            <a:br/>
            <a:r>
              <a:rPr sz="1200"/>
              <a:t>   service_catalog ➔ payments (Self-Join 대사)</a:t>
            </a:r>
          </a:p>
          <a:p>
            <a:br/>
            <a:pPr>
              <a:spcAft>
                <a:spcPts val="600"/>
              </a:spcAft>
              <a:defRPr sz="1200" b="1">
                <a:latin typeface="Pretendard"/>
              </a:defRPr>
            </a:pPr>
            <a:r>
              <a:rPr sz="1250">
                <a:solidFill>
                  <a:srgbClr val="000000"/>
                </a:solidFill>
              </a:rPr>
              <a:t>🛡️ 전사 무결성 검증 결과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19개 물리 FK 전수 설정: 고아 데이터 0건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논리 세션 매핑: 일치율 100.0%</a:t>
            </a:r>
          </a:p>
          <a:p>
            <a:pPr>
              <a:spcAft>
                <a:spcPts val="400"/>
              </a:spcAft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200"/>
              <a:t>• 연결선 직각화 보정: 6대 관계선 왜곡 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F7A2F30-75C4-467B-AB30-C0C909232090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2.3. 데이터 클리닝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00200"/>
            <a:ext cx="5212080" cy="1965960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46304" bIns="128016" l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0284C7"/>
                </a:solidFill>
                <a:latin typeface="Pretendard"/>
              </a:defRPr>
            </a:pPr>
            <a:r>
              <a:t>⚙️ 사용 프레임워크 &amp; 라이브러리 선정 사유</a:t>
            </a:r>
          </a:p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  <a:latin typeface="Pretendard"/>
              </a:defRPr>
            </a:pPr>
            <a:r>
              <a:t>• Polars: 메모리 70% 절감 &amp; 속도 8.4배 향상 (Rust 기반 멀티스레드 대용량 조인 최적화)</a:t>
            </a:r>
            <a:br/>
            <a:r>
              <a:t>• Pandas &amp; NumPy: 16대 정제 룰셋의 복잡한 조건문 평가 및 데이터 정합성 검증</a:t>
            </a:r>
            <a:br/>
            <a:r>
              <a:t>• MySQL 8.0 &amp; SQLAlchemy: 5만 건 단위 벌크 인서트 및 트랜잭션 제어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00200"/>
            <a:ext cx="5239512" cy="1965960"/>
          </a:xfrm>
          <a:prstGeom prst="rect">
            <a:avLst/>
          </a:prstGeom>
          <a:solidFill>
            <a:srgbClr val="F8FAFC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46304" bIns="128016" l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059669"/>
                </a:solidFill>
                <a:latin typeface="Pretendard"/>
              </a:defRPr>
            </a:pPr>
            <a:r>
              <a:t>🛡️ 16대 핵심 정제 로직 요약</a:t>
            </a:r>
          </a:p>
          <a:p>
            <a:pPr>
              <a:lnSpc>
                <a:spcPct val="135000"/>
              </a:lnSpc>
              <a:defRPr sz="1000">
                <a:solidFill>
                  <a:srgbClr val="0F172A"/>
                </a:solidFill>
                <a:latin typeface="Pretendard"/>
              </a:defRPr>
            </a:pPr>
            <a:r>
              <a:t>1. 부모-자식 외래키 무결성: 상위 마스터 없는 고아 레코드 전수 격리</a:t>
            </a:r>
            <a:br/>
            <a:r>
              <a:t>2. 타임스탬프 시계열 정합성: [예약➔접수➔진료➔수납] 역전 제거</a:t>
            </a:r>
            <a:br/>
            <a:r>
              <a:t>3. 의료 운영시간 유효성: 00~07시 심야 비정상 외래 세션 격리</a:t>
            </a:r>
            <a:br/>
            <a:r>
              <a:t>4. 중복 트랜잭션 제거: 동일 환자 동일 슬롯 중복 예약 격리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31520" y="3730752"/>
          <a:ext cx="10725912" cy="2395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743200"/>
                <a:gridCol w="4325112"/>
                <a:gridCol w="1828800"/>
              </a:tblGrid>
              <a:tr h="47914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정제 룰 ID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오염 유형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적용된 정제 로직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격리 대상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47914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RULE-01 ~ 04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부모 키 결측 (Orphan Keys)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마스터에 없는 patient_id, slot_id 격리 DB로 분리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고아 레코드 전수</a:t>
                      </a:r>
                    </a:p>
                  </a:txBody>
                  <a:tcPr marT="73152" marB="73152" marL="109728" marR="109728" anchor="ctr"/>
                </a:tc>
              </a:tr>
              <a:tr h="47914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RULE-05 ~ 08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시계열 역전 (Timestamp Paradox)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체크인이 예약보다 3시간 이전이거나 진료종료가 시작보다 빠른 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시간 역전 레코드</a:t>
                      </a:r>
                    </a:p>
                  </a:txBody>
                  <a:tcPr marT="73152" marB="73152" marL="109728" marR="109728" anchor="ctr"/>
                </a:tc>
              </a:tr>
              <a:tr h="47914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RULE-09 ~ 12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외래 운영시간 위반 (Out of Hours)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심야(00~07시) 비정상 외래 세션 및 진료시간 180분 초과 오류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비정상 세션 전수</a:t>
                      </a:r>
                    </a:p>
                  </a:txBody>
                  <a:tcPr marT="73152" marB="73152" marL="109728" marR="109728" anchor="ctr"/>
                </a:tc>
              </a:tr>
              <a:tr h="47914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RULE-13 ~ 16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중복 및 정원 초과 (Duplicates)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동일 환자 중복 예약 및 진료 정원 120% 초과 이상치 레코드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중복 트랜잭션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  <p:sp>
        <p:nvSpPr>
          <p:cNvPr id="10" name="TextBox 2">
            <a:extLst>
              <a:ext uri="{FF2B5EF4-FFF2-40B4-BE49-F238E27FC236}">
                <a16:creationId xmlns:a16="http://schemas.microsoft.com/office/drawing/2014/main" id="{46DA59D7-B284-4C3D-80FD-FAA443AD3BF3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2. DATA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564AFF-8E76-4A2C-88A9-6F1C37E55C12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2. DATA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3828F01-632B-4578-9BBC-EFFE55D87F34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2.4. 데이터 정합성 검사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284C7"/>
                </a:solidFill>
                <a:latin typeface="Pretendard"/>
              </a:defRPr>
            </a:pPr>
            <a:r>
              <a:t>496,863 건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외래 진료 클린 (49.7%)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C2626"/>
                </a:solidFill>
                <a:latin typeface="Pretendard"/>
              </a:defRPr>
            </a:pPr>
            <a:r>
              <a:t>약 442만 건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전체 38.4% 격리 (1·2차)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59669"/>
                </a:solidFill>
                <a:latin typeface="Pretendard"/>
              </a:defRPr>
            </a:pPr>
            <a:r>
              <a:t>100.0 %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클린 DB 19개 FK 무결성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7C3AED"/>
                </a:solidFill>
                <a:latin typeface="Pretendard"/>
              </a:defRPr>
            </a:pPr>
            <a:r>
              <a:t>0 원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청구-수납 대사 차액 (일치)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16352"/>
          <a:ext cx="548640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371600"/>
                <a:gridCol w="1188720"/>
                <a:gridCol w="914400"/>
              </a:tblGrid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핵심 테이블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클린 적재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격리 분리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격리율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encounters (외래 진료)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496,863건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503,137건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50.3%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encounter_services (처치)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1,490,589건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1,489,737건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50.0%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payments (원무 수납)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732,464건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775,037건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51.4%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checkins (원무 접수)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829,165건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220,378건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21.0%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appointment_slots (슬롯)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983,834건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207,593건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95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17.4%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2816352"/>
            <a:ext cx="4965192" cy="3310128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t>🔍 2단계 연쇄 격리 및 무손실(Zero-Drop) 보증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품질 결함 38.4%(약 442만 건) 정밀 격리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상위 접수·진료 결함에 종속된 하위 처치·수납 레코드까지 도미노 연쇄 격리(Cascade Quarantine)하여 유령 매출 원천 차단.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무단 삭제(Drop) 0건 원칙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모든 이상치는 team3_medallion_dq에 100% 추적 보존하여 데이터 정합성 보증.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골드 클린 DB 확정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3장 분석의 모든 지표는 38.4% 결함을 완전히 정제한 순수 클린 DB만을 SQL 직접 조회하여 산출.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D20894-D7C4-48AA-A26D-700B1B569CD9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B29D8CD-9CC5-4081-B5BC-17990D3E79D5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3.1. 대주제 소개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00200"/>
            <a:ext cx="25420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1664208"/>
            <a:ext cx="2359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0284C7"/>
                </a:solidFill>
                <a:latin typeface="Pretendard"/>
              </a:defRPr>
            </a:pPr>
            <a:r>
              <a:t>역설 ① 데이터 인프라</a:t>
            </a:r>
          </a:p>
          <a:p>
            <a:pPr algn="ctr">
              <a:defRPr sz="1300" b="1">
                <a:solidFill>
                  <a:srgbClr val="0F172A"/>
                </a:solidFill>
                <a:latin typeface="Pretendard"/>
              </a:defRPr>
            </a:pPr>
            <a:r>
              <a:t>레거시 A/B 시스템 단절</a:t>
            </a:r>
          </a:p>
        </p:txBody>
      </p:sp>
      <p:pic>
        <p:nvPicPr>
          <p:cNvPr id="8" name="Picture 7" descr="graphic_1_infra.png">
            <a:extLst>
              <a:ext uri="{FF2B5EF4-FFF2-40B4-BE49-F238E27FC236}">
                <a16:creationId xmlns:a16="http://schemas.microsoft.com/office/drawing/2014/main" id="{FCF1EC47-F6C4-4127-9B3C-AA695C7E1D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19" r="2422" b="5696"/>
          <a:stretch>
            <a:fillRect/>
          </a:stretch>
        </p:blipFill>
        <p:spPr>
          <a:xfrm>
            <a:off x="870584" y="2331720"/>
            <a:ext cx="2254380" cy="110375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59536" y="3703320"/>
            <a:ext cx="2286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환자 76.7% 교차 이용 불구 명단 분리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단가표 7행 오류 ➔ 11.5만 건 진료 오염 파급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5420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547872" y="1664208"/>
            <a:ext cx="2359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059669"/>
                </a:solidFill>
                <a:latin typeface="Pretendard"/>
              </a:defRPr>
            </a:pPr>
            <a:r>
              <a:t>역설 ② 외래 접수</a:t>
            </a:r>
          </a:p>
          <a:p>
            <a:pPr algn="ctr">
              <a:defRPr sz="1300" b="1">
                <a:solidFill>
                  <a:srgbClr val="0F172A"/>
                </a:solidFill>
                <a:latin typeface="Pretendard"/>
              </a:defRPr>
            </a:pPr>
            <a:r>
              <a:t>특정 시간대 집중 마비</a:t>
            </a:r>
          </a:p>
        </p:txBody>
      </p:sp>
      <p:pic>
        <p:nvPicPr>
          <p:cNvPr id="12" name="Picture 11" descr="graphic_2_checkin.png">
            <a:extLst>
              <a:ext uri="{FF2B5EF4-FFF2-40B4-BE49-F238E27FC236}">
                <a16:creationId xmlns:a16="http://schemas.microsoft.com/office/drawing/2014/main" id="{A6BF2054-3FFD-4BF4-803B-CF7ED206DC3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22" r="3634" b="5696"/>
          <a:stretch>
            <a:fillRect/>
          </a:stretch>
        </p:blipFill>
        <p:spPr>
          <a:xfrm>
            <a:off x="3605021" y="2331720"/>
            <a:ext cx="2216281" cy="110375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3584448" y="3703320"/>
            <a:ext cx="2286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전체 접수불가의 34%가 상위 4개 구간 집중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일반 시간대 0% vs 피크 구간 49.99% 거절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25420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272784" y="1664208"/>
            <a:ext cx="2359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DC2626"/>
                </a:solidFill>
                <a:latin typeface="Pretendard"/>
              </a:defRPr>
            </a:pPr>
            <a:r>
              <a:t>역설 ③ 진료 배치</a:t>
            </a:r>
          </a:p>
          <a:p>
            <a:pPr algn="ctr">
              <a:defRPr sz="1300" b="1">
                <a:solidFill>
                  <a:srgbClr val="0F172A"/>
                </a:solidFill>
                <a:latin typeface="Pretendard"/>
              </a:defRPr>
            </a:pPr>
            <a:r>
              <a:t>의사 부하 8.0배 편차</a:t>
            </a:r>
          </a:p>
        </p:txBody>
      </p:sp>
      <p:pic>
        <p:nvPicPr>
          <p:cNvPr id="16" name="Picture 15" descr="graphic_3_doctor.png">
            <a:extLst>
              <a:ext uri="{FF2B5EF4-FFF2-40B4-BE49-F238E27FC236}">
                <a16:creationId xmlns:a16="http://schemas.microsoft.com/office/drawing/2014/main" id="{BA27FBF0-1288-4163-8392-44EC214AEEB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22" r="3230" b="6510"/>
          <a:stretch>
            <a:fillRect/>
          </a:stretch>
        </p:blipFill>
        <p:spPr>
          <a:xfrm>
            <a:off x="6329933" y="2331720"/>
            <a:ext cx="2225805" cy="1094234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309360" y="3703320"/>
            <a:ext cx="2286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과밀 병원 의사당 279명 몰려 대기 19.4분 폭증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비용 0원 순환 재배치 시 대기시간 43.2% 단축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906256" y="1600200"/>
            <a:ext cx="2542032" cy="4526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997696" y="1664208"/>
            <a:ext cx="2359152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300"/>
              </a:spcAft>
              <a:defRPr sz="1100" b="1">
                <a:solidFill>
                  <a:srgbClr val="7C3AED"/>
                </a:solidFill>
                <a:latin typeface="Pretendard"/>
              </a:defRPr>
            </a:pPr>
            <a:r>
              <a:t>역설 ④ 원무 수납</a:t>
            </a:r>
          </a:p>
          <a:p>
            <a:pPr algn="ctr">
              <a:defRPr sz="1300" b="1">
                <a:solidFill>
                  <a:srgbClr val="0F172A"/>
                </a:solidFill>
                <a:latin typeface="Pretendard"/>
              </a:defRPr>
            </a:pPr>
            <a:r>
              <a:t>복수거래 대사 병목</a:t>
            </a:r>
          </a:p>
        </p:txBody>
      </p:sp>
      <p:pic>
        <p:nvPicPr>
          <p:cNvPr id="20" name="Picture 19" descr="graphic_4_billing.png">
            <a:extLst>
              <a:ext uri="{FF2B5EF4-FFF2-40B4-BE49-F238E27FC236}">
                <a16:creationId xmlns:a16="http://schemas.microsoft.com/office/drawing/2014/main" id="{4093F060-DAA6-4D80-BB0C-A576BF0FE1D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230" r="4037" b="4069"/>
          <a:stretch>
            <a:fillRect/>
          </a:stretch>
        </p:blipFill>
        <p:spPr>
          <a:xfrm>
            <a:off x="9073894" y="2331720"/>
            <a:ext cx="2187706" cy="1122808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9034272" y="3703320"/>
            <a:ext cx="2286000" cy="2286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청구-수납 차액 0원(정상)이나 창구 대혼란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t>• 47.4% 복수거래 수기 대조로 업무량 +124% 폭증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DF77360-88B8-4060-8E47-DCCE46424437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18BF8C-EC5D-4325-8C72-7B924A7DFF33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3.2. 관점①: 레거시 시스템(A/B) 품질 비교와 통합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436106B-62EB-499D-A41E-F278EA8BAC97}"/>
              </a:ext>
            </a:extLst>
          </p:cNvPr>
          <p:cNvSpPr/>
          <p:nvPr/>
        </p:nvSpPr>
        <p:spPr>
          <a:xfrm>
            <a:off x="731520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284C7"/>
                </a:solidFill>
                <a:latin typeface="Pretendard"/>
              </a:defRPr>
            </a:pPr>
            <a:r>
              <a:rPr/>
              <a:t> 5% 미만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rPr/>
              <a:t>A/B 자체 결함 차이 (품질 동등)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C2626"/>
                </a:solidFill>
                <a:latin typeface="Pretendard"/>
              </a:defRPr>
            </a:pPr>
            <a:r>
              <a:t>76.7%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A·B 병원 모두 이용 환자 (22.1만)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A075F40-0CBC-47E5-BFC2-5EB331D50B4A}"/>
              </a:ext>
            </a:extLst>
          </p:cNvPr>
          <p:cNvSpPr/>
          <p:nvPr/>
        </p:nvSpPr>
        <p:spPr>
          <a:xfrm>
            <a:off x="6181344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284C7"/>
                </a:solidFill>
                <a:latin typeface="Pretendard"/>
              </a:defRPr>
            </a:pPr>
            <a:r>
              <a:rPr/>
              <a:t>2h / 3h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rPr/>
              <a:t>A 취소(2시간전) vs B 노쇼(3시간후)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97706"/>
                </a:solidFill>
                <a:latin typeface="Pretendard"/>
              </a:defRPr>
            </a:pPr>
            <a:r>
              <a:t>115,590줄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단가표 7행 오류에 오염된 진료내역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16352"/>
          <a:ext cx="548640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463040"/>
                <a:gridCol w="1463040"/>
                <a:gridCol w="1188720"/>
              </a:tblGrid>
              <a:tr h="66202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검증 영역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LEGACY_A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LEGACY_B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분석 판단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66202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자체 결함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예약 32,499 / 결제 3,999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예약 32,503 / 결제 3,999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품질 우열 없음</a:t>
                      </a:r>
                    </a:p>
                  </a:txBody>
                  <a:tcPr marT="73152" marB="73152" marL="109728" marR="109728" anchor="ctr"/>
                </a:tc>
              </a:tr>
              <a:tr h="66202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기준 정보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단가표 180행, 진료과 12행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0행 (A 공통 참조)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기준정보 단일화</a:t>
                      </a:r>
                    </a:p>
                  </a:txBody>
                  <a:tcPr marT="73152" marB="73152" marL="109728" marR="109728" anchor="ctr"/>
                </a:tc>
              </a:tr>
              <a:tr h="662025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환자 이용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A만 이용 3.1만 (11.0%)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B만 이용 3.5만 (12.3%)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76.7% 교차 이용</a:t>
                      </a:r>
                    </a:p>
                  </a:txBody>
                  <a:tcPr marT="73152" marB="73152" marL="109728" marR="109728" anchor="ctr"/>
                </a:tc>
              </a:tr>
              <a:tr h="66202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미이행 예약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취소 20.1% (2시간 전)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노쇼 20.0% (3시간 뒤)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기록 시점 차이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2816352"/>
            <a:ext cx="4965192" cy="3310128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t>💡 통합 권고 (TO-BE 통합 시스템 C)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단일 환자 마스터(Master ID) 구축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환자 명단이 둘로 나뉘어 발생하는 진료 이력 단절을 해결하기 위해 단일 환자 번호 체계로 통합.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공통 기준정보 오류 확산 차단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단가표 단 7개 행의 오류가 11.5만 건 진료 서비스로 동시 파급되므로, 사전 유효성 검증 체계 의무화.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취소·노쇼 판정 기준 표준화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시스템 C 구축을 통해 사전 취소 및 노쇼 판정 시점을 표준화하여 진료 슬롯의 불필요한 공실을 예방.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73DE20A-DC5B-40B2-84AB-8A4EE080C024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F9049D9-E2D5-499E-ACB4-E38D8405E47F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3.2. 관점②: 현장접수 불가 패턴 분석 및 개선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59669"/>
                </a:solidFill>
                <a:latin typeface="Pretendard"/>
              </a:defRPr>
            </a:pPr>
            <a:r>
              <a:t>298,257건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당일 워크인 현장접수 총 건수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C2626"/>
                </a:solidFill>
                <a:latin typeface="Pretendard"/>
              </a:defRPr>
            </a:pPr>
            <a:r>
              <a:t>73,471건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당일 접수 불가(REJECTED) 건수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284C7"/>
                </a:solidFill>
                <a:latin typeface="Pretendard"/>
              </a:defRPr>
            </a:pPr>
            <a:r>
              <a:t>1.53%p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진료과별 접수불가율 최대 차이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C2626"/>
                </a:solidFill>
                <a:latin typeface="Pretendard"/>
              </a:defRPr>
            </a:pPr>
            <a:r>
              <a:t>34.02%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상위 4개 피크 시간대 집중 비중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16352"/>
          <a:ext cx="548640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280160"/>
                <a:gridCol w="1280160"/>
                <a:gridCol w="1280160"/>
              </a:tblGrid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진료과 및 도착 시간대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현장접수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접수불가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불가율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신경과 12시대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12,947건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6,471건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49.98%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가정의학과 09시대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12,897건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6,441건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49.94%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비뇨의학과 10시대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12,188건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6,094건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50.00%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산부인과 13시대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11,969건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5,990건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50.05%</a:t>
                      </a:r>
                    </a:p>
                  </a:txBody>
                  <a:tcPr marT="73152" marB="73152" marL="109728" marR="109728" anchor="ctr"/>
                </a:tc>
              </a:tr>
              <a:tr h="551688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4대 피크 구간 합계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50,001건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24,996건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49.99% (34% 점유)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2816352"/>
            <a:ext cx="4965192" cy="3310128"/>
          </a:xfrm>
          <a:prstGeom prst="rect">
            <a:avLst/>
          </a:prstGeom>
          <a:solidFill>
            <a:srgbClr val="F8FAFC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059669"/>
                </a:solidFill>
                <a:latin typeface="Pretendard"/>
              </a:defRPr>
            </a:pPr>
            <a:r>
              <a:t>💡 사전 방문 안내 개선 및 TO-BE 해법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시간대별 0% vs 50% 극단적 분할 본질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진료과의 인기도 문제가 아니라, 특정 시간대 당일 접수 정원 마감 및 점심 휴게시간 직전 쏠림이 본질.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타깃 사전 방문 안내 도입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모든 시간대에 일괄 적용하지 않고, 접수불가의 34%가 몰리는 상위 4개 구간에 '방문 전 마감 알림'을 집중 노출.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헛걸음 환자 2.5만 명 회복 및 창구 분산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사전 모바일 예약 전환 유도로 헛걸음 환자 이탈을 방어하고 외래 접수 창구의 대기 혼잡도를 즉시 완화.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87599C-AE71-4979-AF95-7861DEE3EF01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36D6D4C-3DA5-4945-B225-445CC3795404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3.2. 관점③: 의사 진료 배치 최적화 및 대기시간 단축</a:t>
            </a:r>
          </a:p>
        </p:txBody>
      </p:sp>
      <p:pic>
        <p:nvPicPr>
          <p:cNvPr id="6" name="Picture 5" descr="차트_1_의사배치_양극화_분석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486400" cy="45262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6ED82FDC-18C6-4BE3-B6D0-258B95A32600}"/>
              </a:ext>
            </a:extLst>
          </p:cNvPr>
          <p:cNvSpPr/>
          <p:nvPr/>
        </p:nvSpPr>
        <p:spPr>
          <a:xfrm>
            <a:off x="6492240" y="1600200"/>
            <a:ext cx="4965192" cy="4526280"/>
          </a:xfrm>
          <a:prstGeom prst="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marL="0" algn="l">
              <a:spcAft>
                <a:spcPts val="10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rPr b="0"/>
              <a:t/>
            </a:r>
          </a:p>
          <a:p>
            <a:pPr marL="0" algn="l">
              <a:spcAft>
                <a:spcPts val="10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rPr/>
              <a:t>📊 의사 부하 8.0배 편차 및 재배치 성과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과밀 그룹 (1,373개, 73.4%): 의사당 279.3명, 대기 19.4분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유휴 그룹 (268개, 14.3%): 의사당 34.7명, 대기 5.6분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5대 필수과 양극화: 내과 9.8배, 정형외과 7.9배, 소청과 7.9배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/>
            </a:r>
          </a:p>
          <a:p>
            <a:pPr marL="0" algn="l" lvl="3">
              <a:spcBef>
                <a:spcPts val="800"/>
              </a:spcBef>
              <a:spcAft>
                <a:spcPts val="600"/>
              </a:spcAft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 b="0"/>
              <a:t/>
            </a:r>
          </a:p>
          <a:p>
            <a:pPr marL="0" algn="l">
              <a:spcAft>
                <a:spcPts val="10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rPr/>
              <a:t>📊 </a:t>
            </a:r>
            <a:r>
              <a:rPr sz="1400">
                <a:latin typeface="Malgun Gothic"/>
                <a:ea typeface="Malgun Gothic"/>
                <a:cs typeface="Malgun Gothic"/>
              </a:rPr>
              <a:t> 비용 0원 순환 재배치 시뮬레이션 성과</a:t>
            </a:r>
          </a:p>
          <a:p>
            <a:pPr marL="0" algn="l">
              <a:spcAft>
                <a:spcPts val="1000"/>
              </a:spcAft>
              <a:defRPr sz="1400" b="1">
                <a:solidFill>
                  <a:srgbClr val="0284C7"/>
                </a:solidFill>
                <a:latin typeface="Pretendard"/>
              </a:defRPr>
            </a:pPr>
            <a:r>
              <a:rPr sz="1050" b="0">
                <a:solidFill>
                  <a:srgbClr val="0F172A"/>
                </a:solidFill>
                <a:latin typeface="Calibri"/>
                <a:ea typeface="Calibri"/>
                <a:cs typeface="Calibri"/>
              </a:rPr>
              <a:t>• 의사 1인당 부하: 279.3명 ➔ 153.9명 (▼ 44.9% 경감)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>
                <a:latin typeface="Calibri"/>
                <a:ea typeface="Calibri"/>
                <a:cs typeface="Calibri"/>
              </a:rPr>
              <a:t>• 과밀 진료단위 비율: 73.4% ➔ 18.2% (▼ 55.2%p 안착)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과밀 진료단위 비율: 73.4% ➔ 18.2% (▼ 55.2%p 안착)</a:t>
            </a:r>
          </a:p>
          <a:p>
            <a:pPr marL="0" algn="l">
              <a:spcAft>
                <a:spcPts val="3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소요 예산: 0원 (동일 진료과 1:1 순환 파견 활용)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A6FF6B6-8E8B-4A4A-8670-90E1CC35C5DD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4560D9B-700B-4FE3-9047-1E6B7F3313C6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3.2. 관점④: 원무 수납 대사 및 창구 복잡도 해소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9FADE5B-2C54-42DF-ADE6-7CCC9E3747A3}"/>
              </a:ext>
            </a:extLst>
          </p:cNvPr>
          <p:cNvSpPr/>
          <p:nvPr/>
        </p:nvSpPr>
        <p:spPr>
          <a:xfrm>
            <a:off x="731520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7C3AED"/>
                </a:solidFill>
                <a:latin typeface="Pretendard"/>
              </a:defRPr>
            </a:pPr>
            <a:r>
              <a:rPr/>
              <a:t>193.8 억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rPr/>
              <a:t>완료 진료 순청구액 = 순수납액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C2626"/>
                </a:solidFill>
                <a:latin typeface="Pretendard"/>
              </a:defRPr>
            </a:pPr>
            <a:r>
              <a:t>23.5만건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분할·환불 복수 거래 (진료의 47.4%)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D97706"/>
                </a:solidFill>
                <a:latin typeface="Pretendard"/>
              </a:defRPr>
            </a:pPr>
            <a:r>
              <a:t>+124.1%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전수 재확인 시 작업 폭증율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572768"/>
            <a:ext cx="2542032" cy="105156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09728" bIns="91440" lIns="128016" rIns="128016"/>
          <a:lstStyle/>
          <a:p>
            <a:pPr algn="ctr">
              <a:spcAft>
                <a:spcPts val="200"/>
              </a:spcAft>
              <a:defRPr sz="2100" b="1">
                <a:solidFill>
                  <a:srgbClr val="059669"/>
                </a:solidFill>
                <a:latin typeface="Pretendard"/>
              </a:defRPr>
            </a:pPr>
            <a:r>
              <a:t>21.5인일</a:t>
            </a:r>
          </a:p>
          <a:p>
            <a:pPr>
              <a:defRPr sz="1000">
                <a:solidFill>
                  <a:srgbClr val="475569"/>
                </a:solidFill>
                <a:latin typeface="Pretendard"/>
              </a:defRPr>
            </a:pPr>
            <a:r>
              <a:t>조건부 재확인 적용 시 즉시 절감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31520" y="2816352"/>
          <a:ext cx="5486400" cy="33101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097280"/>
                <a:gridCol w="1005840"/>
                <a:gridCol w="1005840"/>
                <a:gridCol w="1188720"/>
              </a:tblGrid>
              <a:tr h="827532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시간대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완료 진료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분할결제율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환불율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50" b="1">
                          <a:solidFill>
                            <a:srgbClr val="F8FAFC"/>
                          </a:solidFill>
                          <a:latin typeface="Pretendard"/>
                        </a:defRPr>
                      </a:pPr>
                      <a:r>
                        <a:t>창구 특성</a:t>
                      </a:r>
                    </a:p>
                  </a:txBody>
                  <a:tcPr marT="73152" marB="73152" marL="109728" marR="109728" anchor="ctr">
                    <a:solidFill>
                      <a:srgbClr val="0F172A"/>
                    </a:solidFill>
                  </a:tcPr>
                </a:tc>
              </a:tr>
              <a:tr h="827532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08시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4.8만 (9.8%)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60.45%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6.88%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아침 선수납 피크</a:t>
                      </a:r>
                    </a:p>
                  </a:txBody>
                  <a:tcPr marT="73152" marB="73152" marL="109728" marR="109728" anchor="ctr"/>
                </a:tc>
              </a:tr>
              <a:tr h="827532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09~13시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41.4만 (83.5%)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36.11%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9.32%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외래 물량 집중 대란</a:t>
                      </a:r>
                    </a:p>
                  </a:txBody>
                  <a:tcPr marT="73152" marB="73152" marL="109728" marR="109728" anchor="ctr"/>
                </a:tc>
              </a:tr>
              <a:tr h="827532"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 b="1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14시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3.3만 (6.7%)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26.64%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16.25%</a:t>
                      </a:r>
                    </a:p>
                  </a:txBody>
                  <a:tcPr marT="73152" marB="73152" marL="109728" marR="10972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25000"/>
                        </a:lnSpc>
                        <a:defRPr sz="1000">
                          <a:solidFill>
                            <a:srgbClr val="0F172A"/>
                          </a:solidFill>
                          <a:latin typeface="Pretendard"/>
                        </a:defRPr>
                      </a:pPr>
                      <a:r>
                        <a:t>정산 환불 피크</a:t>
                      </a:r>
                    </a:p>
                  </a:txBody>
                  <a:tcPr marT="73152" marB="73152" marL="109728" marR="109728" anchor="ctr"/>
                </a:tc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6492240" y="2816352"/>
            <a:ext cx="4965192" cy="3310128"/>
          </a:xfrm>
          <a:prstGeom prst="rect">
            <a:avLst/>
          </a:prstGeom>
          <a:solidFill>
            <a:srgbClr val="F8FAFC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algn="ctr">
              <a:spcAft>
                <a:spcPts val="1400"/>
              </a:spcAft>
              <a:defRPr sz="1400" b="1">
                <a:solidFill>
                  <a:srgbClr val="7C3AED"/>
                </a:solidFill>
                <a:latin typeface="Pretendard"/>
              </a:defRPr>
            </a:pPr>
            <a:r>
              <a:t>💡 원무 수납 혁신 방안 및 TO-BE 해법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진료 단위 통합 대사 대시보드 (UI)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흩어진 분할결제·환불 거래(73.2만 건)를 진료 1건 단위로 묶어 차액 0원을 한 화면에 자동 매핑.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조건부 재확인 (Smart Filtering Rule)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대시보드가 정상 판정한 96.4% 거래는 수기 재확인 면제, 추가 확인 대상 (3.6%)만 선별 점검(※ 시나리오 표본 1,749거래 기준: 일치 1,686건 / 차액·보류 63건)하여 21.5인일 절감.</a:t>
            </a:r>
          </a:p>
          <a:p>
            <a:pPr>
              <a:spcAft>
                <a:spcPts val="300"/>
              </a:spcAft>
              <a:defRPr sz="1150" b="1">
                <a:solidFill>
                  <a:srgbClr val="0F172A"/>
                </a:solidFill>
                <a:latin typeface="Pretendard"/>
              </a:defRPr>
            </a:pPr>
            <a:r>
              <a:t>• 키오스크 분산 및 창구 탄력 운영</a:t>
            </a:r>
          </a:p>
          <a:p>
            <a:pPr>
              <a:lnSpc>
                <a:spcPct val="135000"/>
              </a:lnSpc>
              <a:spcAft>
                <a:spcPts val="1000"/>
              </a:spcAft>
              <a:defRPr sz="1050">
                <a:solidFill>
                  <a:srgbClr val="475569"/>
                </a:solidFill>
                <a:latin typeface="Pretendard"/>
              </a:defRPr>
            </a:pPr>
            <a:r>
              <a:t>단건 결제(52.6%)는 무인 수납으로 유도하고, 대면 창구는 복수거래 전담 창구로 전환하여 혼잡도 해소.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D4974D-7768-4D9E-A870-B33166EF9F4E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3. ANALYTICS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7BDD911-D3A9-4FBB-BC06-BF962590F0B6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3.3 결과 종합</a:t>
            </a:r>
          </a:p>
        </p:txBody>
      </p:sp>
      <p:pic>
        <p:nvPicPr>
          <p:cNvPr id="6" name="Picture 5" descr="차트_3_의사재배치_대기시간_단축효과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600200"/>
            <a:ext cx="5486400" cy="4526280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259EE244-64E5-479B-927E-2B201EABCC7F}"/>
              </a:ext>
            </a:extLst>
          </p:cNvPr>
          <p:cNvSpPr/>
          <p:nvPr/>
        </p:nvSpPr>
        <p:spPr>
          <a:xfrm>
            <a:off x="6492240" y="1600200"/>
            <a:ext cx="4965192" cy="4526280"/>
          </a:xfrm>
          <a:prstGeom prst="rect">
            <a:avLst/>
          </a:prstGeom>
          <a:solidFill>
            <a:srgbClr val="F8FAFC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228600" bIns="228600" lIns="274320" rIns="274320"/>
          <a:lstStyle/>
          <a:p>
            <a:pPr algn="ctr">
              <a:spcAft>
                <a:spcPts val="1200"/>
              </a:spcAft>
              <a:defRPr sz="1400" b="1">
                <a:solidFill>
                  <a:srgbClr val="059669"/>
                </a:solidFill>
                <a:latin typeface="Pretendard"/>
              </a:defRPr>
            </a:pPr>
            <a:r>
              <a:rPr/>
              <a:t>⏱️ 대기시간 단축: 19.4분 ➔ 11.0분 (▼ 43.2%)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[인프라 ➔ 전주기]: 단일 환자 마스터로 76.7% 교차 이용 환자의 진료 이력 단절 해소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[접수 ➔ 진료]: 사전 방문 안내로 피크 시간대 헛걸음 이탈(34%) 방어, 순환 의사 배치로 진료 대기가 11분대로 안착 (이탈률 39.5% ➔ 12% 이하 급감)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>• [진료 ➔ 수납]: 진료 완료 환자의 수납 처리가 통합 대시보드를 통해 1:1 자동 대사되면서 창구 병목 없는 원스톱 정산 완료</a:t>
            </a:r>
          </a:p>
          <a:p>
            <a:pPr>
              <a:lnSpc>
                <a:spcPct val="130000"/>
              </a:lnSpc>
              <a:spcAft>
                <a:spcPts val="800"/>
              </a:spcAft>
              <a:defRPr sz="1050">
                <a:solidFill>
                  <a:srgbClr val="0F172A"/>
                </a:solidFill>
                <a:latin typeface="Pretendard"/>
              </a:defRPr>
            </a:pPr>
            <a:r>
              <a:rPr/>
              <a:t/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200" b="1">
                <a:solidFill>
                  <a:srgbClr val="059669"/>
                </a:solidFill>
                <a:latin typeface="Pretendard"/>
              </a:defRPr>
            </a:pPr>
            <a:r>
              <a:rPr sz="1400"/>
              <a:t>📈 최종 결론</a:t>
            </a:r>
          </a:p>
          <a:p>
            <a:pPr>
              <a:lnSpc>
                <a:spcPct val="135000"/>
              </a:lnSpc>
              <a:defRPr sz="1050">
                <a:solidFill>
                  <a:srgbClr val="475569"/>
                </a:solidFill>
                <a:latin typeface="Pretendard"/>
              </a:defRPr>
            </a:pPr>
            <a:r>
              <a:rPr/>
              <a:t>자원 총량 부족이 아니라 '불균형 분배와 프로세스 단절'이 원인이었으며, 무비용 자원 재배치와 프로세스 연계로 외래 전주기 정상화를 달성했습니다.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B84F61-935B-43B7-BA29-319043811247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4. 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C74DCA-6158-4E30-8591-DEACF92DFBC4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4.1 TO-BE (실시간 순환 진료 및 지능형 외래 운영 모델)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728FDC-1E88-4198-BA78-6A34BD6480D9}"/>
              </a:ext>
            </a:extLst>
          </p:cNvPr>
          <p:cNvSpPr/>
          <p:nvPr/>
        </p:nvSpPr>
        <p:spPr>
          <a:xfrm>
            <a:off x="731520" y="1600200"/>
            <a:ext cx="3429000" cy="27432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46304" lIns="164592" r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0284C7"/>
                </a:solidFill>
                <a:latin typeface="Pretendard"/>
              </a:defRPr>
            </a:pPr>
            <a:r>
              <a:rPr sz="1800"/>
              <a:t>STEP 1: 단기 (1~3개월)</a:t>
            </a:r>
          </a:p>
          <a:p>
            <a:pPr algn="ctr">
              <a:spcAft>
                <a:spcPts val="400"/>
              </a:spcAft>
              <a:defRPr sz="1100" b="1">
                <a:solidFill>
                  <a:srgbClr val="0284C7"/>
                </a:solidFill>
                <a:latin typeface="Pretendard"/>
              </a:defRPr>
            </a:pPr>
            <a:r>
              <a:rPr sz="1600" b="1">
                <a:solidFill>
                  <a:srgbClr val="0F172A"/>
                </a:solidFill>
                <a:latin typeface="Malgun Gothic"/>
                <a:ea typeface="Malgun Gothic"/>
                <a:cs typeface="Malgun Gothic"/>
              </a:rPr>
              <a:t>단일 마스터 &amp; 1:1 순환 파견</a:t>
            </a:r>
          </a:p>
          <a:p>
            <a:pPr>
              <a:lnSpc>
                <a:spcPct val="135000"/>
              </a:lnSpc>
              <a:defRPr sz="1000">
                <a:solidFill>
                  <a:srgbClr val="475569"/>
                </a:solidFill>
                <a:latin typeface="Pretendard"/>
              </a:defRPr>
            </a:pPr>
            <a:r>
              <a:rPr/>
              <a:t>• </a:t>
            </a:r>
            <a:r>
              <a:rPr sz="1200"/>
              <a:t>환자 Master ID &amp; 공통 기준정보 단일화</a:t>
            </a:r>
            <a:br/>
            <a:r>
              <a:rPr sz="1200"/>
              <a:t>• 과밀 ↔ 유휴 1:1 순환 파견 시범 가동</a:t>
            </a:r>
            <a:br/>
            <a:r>
              <a:rPr sz="1200"/>
              <a:t>• 원무 창구 '진료단위 통합 대시보드' 도입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5CEEF45-CEEA-4FAD-8993-0174B1F6F433}"/>
              </a:ext>
            </a:extLst>
          </p:cNvPr>
          <p:cNvSpPr/>
          <p:nvPr/>
        </p:nvSpPr>
        <p:spPr>
          <a:xfrm>
            <a:off x="4379976" y="1600200"/>
            <a:ext cx="3429000" cy="27432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46304" lIns="164592" r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059669"/>
                </a:solidFill>
                <a:latin typeface="Pretendard"/>
              </a:defRPr>
            </a:pPr>
            <a:r>
              <a:rPr sz="1800"/>
              <a:t>STEP 2: 중기 (3~6개월)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Pretendard"/>
              </a:defRPr>
            </a:pPr>
            <a:r>
              <a:rPr sz="1600"/>
              <a:t>권역 순환 협약 &amp; 사전 안내 알림</a:t>
            </a:r>
          </a:p>
          <a:p>
            <a:pPr>
              <a:lnSpc>
                <a:spcPct val="135000"/>
              </a:lnSpc>
              <a:defRPr sz="1000">
                <a:solidFill>
                  <a:srgbClr val="475569"/>
                </a:solidFill>
                <a:latin typeface="Pretendard"/>
              </a:defRPr>
            </a:pPr>
            <a:r>
              <a:rPr sz="1200"/>
              <a:t>• 권역 의료원 간 의료인력 파견 협약(MOU)</a:t>
            </a:r>
            <a:br/>
            <a:r>
              <a:rPr sz="1200"/>
              <a:t>• 피크 4개 시간대 접수 마감 사전 알림</a:t>
            </a:r>
            <a:br/>
            <a:r>
              <a:rPr sz="1200"/>
              <a:t>• 96.4% 정상 거래 수기 재확인 면제 규정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E080A032-1CBE-4007-AC22-6788F70DF348}"/>
              </a:ext>
            </a:extLst>
          </p:cNvPr>
          <p:cNvSpPr/>
          <p:nvPr/>
        </p:nvSpPr>
        <p:spPr>
          <a:xfrm>
            <a:off x="8028432" y="1600200"/>
            <a:ext cx="3429000" cy="274320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46304" lIns="164592" rIns="164592"/>
          <a:lstStyle/>
          <a:p>
            <a:pPr algn="ctr">
              <a:spcAft>
                <a:spcPts val="400"/>
              </a:spcAft>
              <a:defRPr sz="1100" b="1">
                <a:solidFill>
                  <a:srgbClr val="7C3AED"/>
                </a:solidFill>
                <a:latin typeface="Pretendard"/>
              </a:defRPr>
            </a:pPr>
            <a:r>
              <a:rPr sz="1800"/>
              <a:t>STEP 3: 장기 (6~12개월)</a:t>
            </a:r>
          </a:p>
          <a:p>
            <a:pPr>
              <a:spcAft>
                <a:spcPts val="1000"/>
              </a:spcAft>
              <a:defRPr sz="1300" b="1">
                <a:solidFill>
                  <a:srgbClr val="0F172A"/>
                </a:solidFill>
                <a:latin typeface="Pretendard"/>
              </a:defRPr>
            </a:pPr>
            <a:r>
              <a:rPr sz="1600" b="1">
                <a:solidFill>
                  <a:srgbClr val="0F172A"/>
                </a:solidFill>
              </a:rPr>
              <a:t>EMR 연동 동적 예약 슬롯</a:t>
            </a:r>
          </a:p>
          <a:p>
            <a:pPr>
              <a:lnSpc>
                <a:spcPct val="135000"/>
              </a:lnSpc>
              <a:defRPr sz="1000">
                <a:solidFill>
                  <a:srgbClr val="475569"/>
                </a:solidFill>
                <a:latin typeface="Pretendard"/>
              </a:defRPr>
            </a:pPr>
            <a:r>
              <a:rPr sz="1200"/>
              <a:t>• 실시간 대기환자 기반 동적 슬롯 자동 개설</a:t>
            </a:r>
            <a:br/>
            <a:r>
              <a:rPr sz="1200"/>
              <a:t>• AI 노쇼 예측 모델 및 유휴 병원 전환 추천</a:t>
            </a:r>
            <a:br/>
            <a:r>
              <a:rPr sz="1200"/>
              <a:t>• 모바일·키오스크 기반 무인 수납 정착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EEE1499-862E-48FC-9A38-8E117058C2ED}"/>
              </a:ext>
            </a:extLst>
          </p:cNvPr>
          <p:cNvSpPr/>
          <p:nvPr/>
        </p:nvSpPr>
        <p:spPr>
          <a:xfrm>
            <a:off x="731520" y="4526280"/>
            <a:ext cx="10725912" cy="160020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46304" bIns="128016" lIns="201168" rIns="201168"/>
          <a:lstStyle/>
          <a:p>
            <a:pPr algn="ctr">
              <a:spcAft>
                <a:spcPts val="600"/>
              </a:spcAft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 sz="1600"/>
              <a:t>🏥 3대 수혜자별 정량 파급 효과 (Expected Impact)</a:t>
            </a:r>
          </a:p>
          <a:p>
            <a:pPr>
              <a:lnSpc>
                <a:spcPct val="135000"/>
              </a:lnSpc>
              <a:defRPr sz="1050">
                <a:solidFill>
                  <a:srgbClr val="0F172A"/>
                </a:solidFill>
                <a:latin typeface="Pretendard"/>
              </a:defRPr>
            </a:pPr>
            <a:r>
              <a:rPr sz="1200"/>
              <a:t>• 환자 관점: 대기시간 43.2% 단축 (19.4분 ➔ 11.0분), 피크 시간대 헛걸음 이탈 34% 사전 예방</a:t>
            </a:r>
            <a:br/>
            <a:r>
              <a:rPr sz="1200"/>
              <a:t>• 의료진 관점: 의사 1인당 담당 진료 건수 44.9% 감소 (279명 ➔ 153명)로 번아웃 방지 및 의료 서비스 질 향상</a:t>
            </a:r>
            <a:br/>
            <a:r>
              <a:rPr sz="1200"/>
              <a:t>• 병원/직원 관점: 원무 창구 업무 21.5인일 절감, 추가 인건비 지출 0원으로 외래 운영 효율 극대화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0D6E851-7B0A-4393-9A70-F9FA6758E5CB}"/>
              </a:ext>
            </a:extLst>
          </p:cNvPr>
          <p:cNvSpPr txBox="1"/>
          <p:nvPr/>
        </p:nvSpPr>
        <p:spPr>
          <a:xfrm>
            <a:off x="731520" y="347472"/>
            <a:ext cx="10725912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/>
              <a:t>4. CONCLUSION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704746-0894-416C-BBF6-2F83630A755B}"/>
              </a:ext>
            </a:extLst>
          </p:cNvPr>
          <p:cNvSpPr txBox="1"/>
          <p:nvPr/>
        </p:nvSpPr>
        <p:spPr>
          <a:xfrm>
            <a:off x="731520" y="640080"/>
            <a:ext cx="10725912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100" b="1">
                <a:solidFill>
                  <a:srgbClr val="0F172A"/>
                </a:solidFill>
                <a:latin typeface="Pretendard"/>
              </a:defRPr>
            </a:pPr>
            <a:r>
              <a:rPr/>
              <a:t>4.2 결론 및 요약, 한계점, 보완 과제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E61A7E0-3D5B-4E56-80B6-3B08428A5966}"/>
              </a:ext>
            </a:extLst>
          </p:cNvPr>
          <p:cNvSpPr/>
          <p:nvPr/>
        </p:nvSpPr>
        <p:spPr>
          <a:xfrm>
            <a:off x="731520" y="1600200"/>
            <a:ext cx="5212080" cy="3154680"/>
          </a:xfrm>
          <a:prstGeom prst="rect">
            <a:avLst/>
          </a:prstGeom>
          <a:solidFill>
            <a:srgbClr val="F8FAFC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46304" l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059669"/>
                </a:solidFill>
                <a:latin typeface="Pretendard"/>
              </a:defRPr>
            </a:pPr>
            <a:r>
              <a:rPr sz="1600"/>
              <a:t>🏆 최종 결론 및 핵심 요약 (Summary)</a:t>
            </a:r>
          </a:p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400" b="1"/>
              <a:t>1. 데이터 엔지니어링 신뢰성 확보</a:t>
            </a:r>
            <a:br/>
            <a:r>
              <a:rPr/>
              <a:t>   1,157만 건 원천 데이터의 16대 무결성 정제 및 19개 FK 전수 검증을 완료하여 고아 데이터 0건의 AI Ready 골드 데이터셋 확립.</a:t>
            </a:r>
            <a:br/>
            <a:r>
              <a:rPr sz="1400" b="1"/>
              <a:t>2. 불균형과 프로세스 단절의 규명</a:t>
            </a:r>
            <a:br/>
            <a:r>
              <a:rPr/>
              <a:t>   자원의 총량이 부족한 것이 아니라, 데이터 분산(76.7% 교차), 시간대 쏠림(접수불가 34%), 의사 양극화(8.0배), 수기 대조 부하(+124%)가 병원의 마비를 유발함을 증명.</a:t>
            </a:r>
            <a:br/>
            <a:r>
              <a:rPr sz="1400" b="1"/>
              <a:t>3. 비용 0원의 무비용 최적화 달성</a:t>
            </a:r>
            <a:br/>
            <a:r>
              <a:rPr/>
              <a:t>   추가 채용 비용 없이 1:1 순환 파견과 창구 프로세스 혁신만으로 대기시간 43.2% 단축 및 창구 21.5인일 절감을 정량 입증.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1BF921C-4160-4173-BAAB-1137A6ACA5E2}"/>
              </a:ext>
            </a:extLst>
          </p:cNvPr>
          <p:cNvSpPr/>
          <p:nvPr/>
        </p:nvSpPr>
        <p:spPr>
          <a:xfrm>
            <a:off x="6217920" y="1600200"/>
            <a:ext cx="5239512" cy="3154680"/>
          </a:xfrm>
          <a:prstGeom prst="rect">
            <a:avLst/>
          </a:prstGeom>
          <a:solidFill>
            <a:srgbClr val="F8FAFC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64592" bIns="146304" lIns="182880" rIns="182880"/>
          <a:lstStyle/>
          <a:p>
            <a:pPr algn="ctr">
              <a:spcAft>
                <a:spcPts val="800"/>
              </a:spcAft>
              <a:defRPr sz="1250" b="1">
                <a:solidFill>
                  <a:srgbClr val="D97706"/>
                </a:solidFill>
                <a:latin typeface="Pretendard"/>
              </a:defRPr>
            </a:pPr>
            <a:r>
              <a:rPr sz="1600"/>
              <a:t>⚠️ 한계점 및 향후 보완 과제 (Limitations)</a:t>
            </a:r>
          </a:p>
          <a:p>
            <a:pPr>
              <a:lnSpc>
                <a:spcPct val="130000"/>
              </a:lnSpc>
              <a:defRPr sz="1000">
                <a:solidFill>
                  <a:srgbClr val="0F172A"/>
                </a:solidFill>
                <a:latin typeface="Pretendard"/>
              </a:defRPr>
            </a:pPr>
            <a:r>
              <a:rPr sz="1400" b="1"/>
              <a:t>1. 환자 중증도 보정 한계</a:t>
            </a:r>
            <a:br/>
            <a:r>
              <a:rPr/>
              <a:t>   진료과별 평균 진료시간을 적용하였으나, 실제 환자별 질환 중증도(CMI)에 따른 진료 난이도 편차 반영 필요.</a:t>
            </a:r>
            <a:br/>
            <a:r>
              <a:rPr sz="1400" b="1"/>
              <a:t>2. 의사 세부 분과 미반영</a:t>
            </a:r>
            <a:br/>
            <a:r>
              <a:rPr/>
              <a:t>   '내과' 내에서도 소화기·순환기·호흡기 등 세부 분과가 상이하므로 실무 파견 시 세부 전공 일치도 모델 보완 요구.</a:t>
            </a:r>
            <a:br/>
            <a:r>
              <a:rPr sz="1400" b="1"/>
              <a:t>3. 창구 처리시간 로그 부재</a:t>
            </a:r>
            <a:br/>
            <a:r>
              <a:rPr/>
              <a:t>   직원의 실제 수기 확인 처리시간(분) 로그가 없어 합성 시나리오를 통해 민감도 상한선(Upper Bound)을 추정한 한계 존재.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130CDDD-5DC5-43B0-8938-62E0DF72F2C3}"/>
              </a:ext>
            </a:extLst>
          </p:cNvPr>
          <p:cNvSpPr/>
          <p:nvPr/>
        </p:nvSpPr>
        <p:spPr>
          <a:xfrm>
            <a:off x="731520" y="4892040"/>
            <a:ext cx="10725912" cy="1234440"/>
          </a:xfrm>
          <a:prstGeom prst="rect">
            <a:avLst/>
          </a:prstGeom>
          <a:solidFill>
            <a:srgbClr val="F1F5F9"/>
          </a:solidFill>
          <a:ln w="1905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 wrap="square" tIns="146304" bIns="128016" lIns="201168" rIns="201168"/>
          <a:lstStyle/>
          <a:p>
            <a:pPr algn="ctr">
              <a:spcAft>
                <a:spcPts val="400"/>
              </a:spcAft>
              <a:defRPr sz="1200" b="1">
                <a:solidFill>
                  <a:srgbClr val="0284C7"/>
                </a:solidFill>
                <a:latin typeface="Pretendard"/>
              </a:defRPr>
            </a:pPr>
            <a:r>
              <a:rPr sz="1600"/>
              <a:t>🚀 향후 발전 방향 (Future Work)</a:t>
            </a:r>
          </a:p>
          <a:p>
            <a:pPr>
              <a:lnSpc>
                <a:spcPct val="130000"/>
              </a:lnSpc>
              <a:defRPr sz="1050">
                <a:solidFill>
                  <a:srgbClr val="0F172A"/>
                </a:solidFill>
                <a:latin typeface="Pretendard"/>
              </a:defRPr>
            </a:pPr>
            <a:r>
              <a:rPr sz="1300"/>
              <a:t/>
            </a:r>
          </a:p>
          <a:p>
            <a:pPr>
              <a:lnSpc>
                <a:spcPct val="130000"/>
              </a:lnSpc>
              <a:defRPr sz="1050">
                <a:solidFill>
                  <a:srgbClr val="0F172A"/>
                </a:solidFill>
                <a:latin typeface="Pretendard"/>
              </a:defRPr>
            </a:pPr>
            <a:r>
              <a:rPr sz="1300"/>
              <a:t>향후 실시간 병원 EMR 스트리밍 API와 연계하여 동적 의사 스케줄링 및 실시간 창구 대기 예측 AI 엔진으로 확장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31D2E"/>
          </a:solidFill>
          <a:ln>
            <a:solidFill>
              <a:srgbClr val="131D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8FAFC"/>
                </a:solidFill>
                <a:latin typeface="Pretendard"/>
              </a:defRPr>
            </a:pPr>
            <a:r>
              <a:t>감사합니다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