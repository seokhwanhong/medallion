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917"/>
          </a:solidFill>
          <a:ln>
            <a:solidFill>
              <a:srgbClr val="1C19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A580C"/>
                </a:solidFill>
                <a:latin typeface="Malgun Gothic"/>
              </a:defRPr>
            </a:pPr>
            <a:r>
              <a:t>팀 3 · 외 래   E M R   데 이 터   분 석   보 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8FAFC"/>
                </a:solidFill>
                <a:latin typeface="Malgun Gothic"/>
              </a:defRPr>
            </a:pPr>
            <a:r>
              <a:t>외래 환자는 왜 떠났고 ,</a:t>
            </a:r>
          </a:p>
          <a:p>
            <a:pPr>
              <a:defRPr sz="4000" b="1">
                <a:solidFill>
                  <a:srgbClr val="F8FAFC"/>
                </a:solidFill>
                <a:latin typeface="Malgun Gothic"/>
              </a:defRPr>
            </a:pPr>
            <a:r>
              <a:t>의료 자원은 어디로 가야 하는가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777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D6D3D1"/>
                </a:solidFill>
                <a:latin typeface="Malgun Gothic"/>
              </a:defRPr>
            </a:pPr>
            <a:r>
              <a:t>병원 490곳 · 의사 4,748명 · 외래 진료 49.6만 건 · 체크인 84.3만 건을 SQL로 직접 분석했습니다.</a:t>
            </a:r>
          </a:p>
          <a:p>
            <a:pPr>
              <a:defRPr sz="1300">
                <a:solidFill>
                  <a:srgbClr val="D6D3D1"/>
                </a:solidFill>
                <a:latin typeface="Malgun Gothic"/>
              </a:defRPr>
            </a:pPr>
            <a:r>
              <a:t>이 보고서의 모든 숫자는 같은 기준(이상치 격리 제외, E2E 무결성 검증 완료)에서 나왔습니다.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3840480"/>
            <a:ext cx="32004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4400" b="1">
                <a:solidFill>
                  <a:srgbClr val="EA580C"/>
                </a:solidFill>
                <a:latin typeface="Malgun Gothic"/>
              </a:defRPr>
            </a:pPr>
            <a:r>
              <a:t>287.4 억</a:t>
            </a:r>
          </a:p>
          <a:p>
            <a:pPr algn="r">
              <a:defRPr sz="1100">
                <a:solidFill>
                  <a:srgbClr val="F8FAFC"/>
                </a:solidFill>
                <a:latin typeface="Malgun Gothic"/>
              </a:defRPr>
            </a:pPr>
            <a:r>
              <a:t>외래 수납 실결제액 (정합도 99.86%)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8A29E"/>
                </a:solidFill>
                <a:latin typeface="Malgun Gothic"/>
              </a:defRPr>
            </a:pPr>
            <a:r>
              <a:t>분석 대상: 2026 EMR 데이터  |  Medallion 아키텍처 기반 파이프라인  |  데이터는 실습용 합성 데이터입니다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4748B"/>
                </a:solidFill>
                <a:latin typeface="Malgun Gothic"/>
              </a:defRPr>
            </a:pPr>
            <a:r>
              <a:t>외래 EMR 전수 데이터 분석 · 정제본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Malgun Gothic"/>
              </a:defRPr>
            </a:pPr>
            <a:r>
              <a:t>한 장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Malgun Gothic"/>
              </a:defRPr>
            </a:pPr>
            <a:r>
              <a:t>490개 병원과 49.6만 건 진료 데이터가 말해주는 외래 운영의 병목과 해결책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2468880" cy="1097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47088"/>
            <a:ext cx="24688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E293B"/>
                </a:solidFill>
                <a:latin typeface="Malgun Gothic"/>
              </a:defRPr>
            </a:pPr>
            <a:r>
              <a:t>84.3 만 건</a:t>
            </a:r>
          </a:p>
          <a:p>
            <a:pPr algn="ctr">
              <a:defRPr sz="1100">
                <a:solidFill>
                  <a:srgbClr val="64748B"/>
                </a:solidFill>
                <a:latin typeface="Malgun Gothic"/>
              </a:defRPr>
            </a:pPr>
            <a:r>
              <a:t>전체 외래 체크인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737360"/>
            <a:ext cx="2468880" cy="1097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1847088"/>
            <a:ext cx="24688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EA580C"/>
                </a:solidFill>
                <a:latin typeface="Malgun Gothic"/>
              </a:defRPr>
            </a:pPr>
            <a:r>
              <a:t>8.0 배</a:t>
            </a:r>
          </a:p>
          <a:p>
            <a:pPr algn="ctr">
              <a:defRPr sz="1100">
                <a:solidFill>
                  <a:srgbClr val="64748B"/>
                </a:solidFill>
                <a:latin typeface="Malgun Gothic"/>
              </a:defRPr>
            </a:pPr>
            <a:r>
              <a:t>의사 환자수 양극화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737360"/>
            <a:ext cx="2468880" cy="1097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1847088"/>
            <a:ext cx="24688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EA580C"/>
                </a:solidFill>
                <a:latin typeface="Malgun Gothic"/>
              </a:defRPr>
            </a:pPr>
            <a:r>
              <a:t>19.4분 ➔ 11.0분</a:t>
            </a:r>
          </a:p>
          <a:p>
            <a:pPr algn="ctr">
              <a:defRPr sz="1100">
                <a:solidFill>
                  <a:srgbClr val="64748B"/>
                </a:solidFill>
                <a:latin typeface="Malgun Gothic"/>
              </a:defRPr>
            </a:pPr>
            <a:r>
              <a:t>대기시간 단축 (-43%)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1737360"/>
            <a:ext cx="2468880" cy="1097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23960" y="1847088"/>
            <a:ext cx="24688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E293B"/>
                </a:solidFill>
                <a:latin typeface="Malgun Gothic"/>
              </a:defRPr>
            </a:pPr>
            <a:r>
              <a:t>8.1 만 명</a:t>
            </a:r>
          </a:p>
          <a:p>
            <a:pPr algn="ctr">
              <a:defRPr sz="1100">
                <a:solidFill>
                  <a:srgbClr val="64748B"/>
                </a:solidFill>
                <a:latin typeface="Malgun Gothic"/>
              </a:defRPr>
            </a:pPr>
            <a:r>
              <a:t>접수 후 이탈 환자 (LEFT)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3154680"/>
            <a:ext cx="320040" cy="320040"/>
          </a:xfrm>
          <a:prstGeom prst="ellipse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8FAFC"/>
                </a:solidFill>
                <a:latin typeface="Malgun Gothic"/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108960"/>
            <a:ext cx="102412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Malgun Gothic"/>
              </a:defRPr>
            </a:pPr>
            <a:r>
              <a:t>환자는 몰리는데 의사는 부족하다 — 동일 과목 내 8.0배의 업무량 양극화</a:t>
            </a:r>
          </a:p>
          <a:p>
            <a:pPr>
              <a:defRPr sz="1100">
                <a:solidFill>
                  <a:srgbClr val="64748B"/>
                </a:solidFill>
                <a:latin typeface="Malgun Gothic"/>
              </a:defRPr>
            </a:pPr>
            <a:r>
              <a:t>과밀 병원 의사는 1인당 279.3명을 진료하며 번아웃에 직면한 반면, 유휴 병원은 34.7명에 불과하다. 문제의 본질은 의사 총량이 아니라 '배치의 극심한 불균형'이다.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4160520"/>
            <a:ext cx="320040" cy="320040"/>
          </a:xfrm>
          <a:prstGeom prst="ellipse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8FAFC"/>
                </a:solidFill>
                <a:latin typeface="Malgun Gothic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114800"/>
            <a:ext cx="102412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Malgun Gothic"/>
              </a:defRPr>
            </a:pPr>
            <a:r>
              <a:t>기다리다 지쳐 집으로 돌아간다 — 당일 접수 8.1만 명이 진료를 포기했다</a:t>
            </a:r>
          </a:p>
          <a:p>
            <a:pPr>
              <a:defRPr sz="1100">
                <a:solidFill>
                  <a:srgbClr val="64748B"/>
                </a:solidFill>
                <a:latin typeface="Malgun Gothic"/>
              </a:defRPr>
            </a:pPr>
            <a:r>
              <a:t>전체 외래의 33%가 사전 예약 없는 당일 워크인 환자다. 피크 시간대 접수 병목과 긴 대기(19.4분)를 견디지 못하고 진료 전 이탈(LEFT)한 환자가 8.1만 건에 달한다.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5166360"/>
            <a:ext cx="320040" cy="320040"/>
          </a:xfrm>
          <a:prstGeom prst="ellipse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8FAFC"/>
                </a:solidFill>
                <a:latin typeface="Malgun Gothic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5120640"/>
            <a:ext cx="102412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Malgun Gothic"/>
              </a:defRPr>
            </a:pPr>
            <a:r>
              <a:t>의사 재배치만으로 대기시간 43%를 줄인다 — 비용은 정확히 0원이다</a:t>
            </a:r>
          </a:p>
          <a:p>
            <a:pPr>
              <a:defRPr sz="1100">
                <a:solidFill>
                  <a:srgbClr val="64748B"/>
                </a:solidFill>
                <a:latin typeface="Malgun Gothic"/>
              </a:defRPr>
            </a:pPr>
            <a:r>
              <a:t>동일 진료과 내 유휴 의사를 과밀 병원에 순환 배치(FTE +1)하는 알고리즘을 적용한 결과, 과밀 병원 의사 부담은 -44.9% 경감되고 대기시간은 19.4분에서 11.0분으로 단축된다.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3093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Malgun Gothic"/>
              </a:defRPr>
            </a:pPr>
            <a:r>
              <a:t>팀 3 · 외래 EMR 데이터 분석 보고서 · 기준: 정제 DB (격리 데이터 제외)                                                                                                         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917"/>
          </a:solidFill>
          <a:ln>
            <a:solidFill>
              <a:srgbClr val="1C19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2011680"/>
            <a:ext cx="822960" cy="822960"/>
          </a:xfrm>
          <a:prstGeom prst="ellipse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8FAFC"/>
                </a:solidFill>
                <a:latin typeface="Malgun Gothic"/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192024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Malgun Gothic"/>
              </a:defRPr>
            </a:pPr>
            <a:r>
              <a:t>숫자를 믿을 수 있게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310896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6D3D1"/>
                </a:solidFill>
                <a:latin typeface="Malgun Gothic"/>
              </a:defRPr>
            </a:pPr>
            <a:r>
              <a:t>계산보다 정의가 먼저입니다. 무엇을 세기로 했는지, 무엇을 뺐는지, 어떤 한계가 있는지를</a:t>
            </a:r>
          </a:p>
          <a:p>
            <a:pPr>
              <a:defRPr sz="1400">
                <a:solidFill>
                  <a:srgbClr val="D6D3D1"/>
                </a:solidFill>
                <a:latin typeface="Malgun Gothic"/>
              </a:defRPr>
            </a:pPr>
            <a:r>
              <a:t>먼저 못 박고 뒤의 모든 숫자를 단 하나의 정제된 기준에서 뽑았습니다.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4748B"/>
                </a:solidFill>
                <a:latin typeface="Malgun Gothic"/>
              </a:defRPr>
            </a:pPr>
            <a:r>
              <a:t>1부 · 숫자를 믿을 수 있게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Malgun Gothic"/>
              </a:defRPr>
            </a:pPr>
            <a:r>
              <a:t>이 보고서가 쓰는 네 지표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Malgun Gothic"/>
              </a:defRPr>
            </a:pPr>
            <a:r>
              <a:t>같은 질문에 숫자가 여러 개 나오는 것을 막기 위해, 핵심 지표를 먼저 정의했습니다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737360"/>
          <a:ext cx="106984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114800"/>
                <a:gridCol w="2011680"/>
                <a:gridCol w="2743200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Malgun Gothic"/>
                        </a:defRPr>
                      </a:pPr>
                      <a:r>
                        <a:t>지표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Malgun Gothic"/>
                        </a:defRPr>
                      </a:pPr>
                      <a:r>
                        <a:t>정의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Malgun Gothic"/>
                        </a:defRPr>
                      </a:pPr>
                      <a:r>
                        <a:t>값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Malgun Gothic"/>
                        </a:defRPr>
                      </a:pPr>
                      <a:r>
                        <a:t>조건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체크인수 (Checkins)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원무과 접수 완료 건수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843,340 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이상치 제거 후 정제본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진료수 (Encounters)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의사 진료 개시 및 완료 건수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496,863 건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outcome = 'COMPLETED'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의사 1인당 환자수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진료 완료 환자수 ÷ 배치 의사수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209.5 명 (전체평균)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과밀 병원은 279.3명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외래 평균 대기시간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진료 시작 시각 - 체크인 완료 시각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17.8 분 (전체평균)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과밀 병원은 19.4분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3840480"/>
            <a:ext cx="5212080" cy="21945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931920"/>
            <a:ext cx="50292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293B"/>
                </a:solidFill>
                <a:latin typeface="Malgun Gothic"/>
              </a:defRPr>
            </a:pPr>
            <a:r>
              <a:t>뺀 것 — 보고서에 반드시 같이 적는다</a:t>
            </a:r>
          </a:p>
          <a:p>
            <a:pPr>
              <a:defRPr sz="1000">
                <a:solidFill>
                  <a:srgbClr val="64748B"/>
                </a:solidFill>
                <a:latin typeface="Malgun Gothic"/>
              </a:defRPr>
            </a:pPr>
            <a:r>
              <a:t>• 부모 키 결측 데이터 114만 건 — 무결성 확보를 위해 분석에서 완전 격리</a:t>
            </a:r>
          </a:p>
          <a:p>
            <a:pPr>
              <a:defRPr sz="1000">
                <a:solidFill>
                  <a:srgbClr val="64748B"/>
                </a:solidFill>
                <a:latin typeface="Malgun Gothic"/>
              </a:defRPr>
            </a:pPr>
            <a:r>
              <a:t>• 접수 후 이탈(LEFT) 81,143건 — 접수는 되었으나 진료 테이블에선 제외</a:t>
            </a:r>
          </a:p>
          <a:p>
            <a:pPr>
              <a:defRPr sz="1000">
                <a:solidFill>
                  <a:srgbClr val="64748B"/>
                </a:solidFill>
                <a:latin typeface="Malgun Gothic"/>
              </a:defRPr>
            </a:pPr>
            <a:r>
              <a:t>• 진료 거절(REJECTED) 3,210건 — 의료진 진료 완료 건에서 제외</a:t>
            </a:r>
          </a:p>
          <a:p>
            <a:pPr>
              <a:defRPr sz="1000">
                <a:solidFill>
                  <a:srgbClr val="64748B"/>
                </a:solidFill>
                <a:latin typeface="Malgun Gothic"/>
              </a:defRPr>
            </a:pPr>
            <a:r>
              <a:t>• 시계열 역전 데이터(도착 전 진료 개시 등) — 정합성 원칙에 따라 제거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840480"/>
            <a:ext cx="5212080" cy="21945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3931920"/>
            <a:ext cx="50292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293B"/>
                </a:solidFill>
                <a:latin typeface="Malgun Gothic"/>
              </a:defRPr>
            </a:pPr>
            <a:r>
              <a:t>데이터 품질 점검 — 네 줄 모두 0이어야 시작한다</a:t>
            </a:r>
          </a:p>
          <a:p>
            <a:pPr>
              <a:defRPr sz="1000" b="1">
                <a:solidFill>
                  <a:srgbClr val="EA580C"/>
                </a:solidFill>
                <a:latin typeface="Malgun Gothic"/>
              </a:defRPr>
            </a:pPr>
            <a:r>
              <a:t>예약 없는 고아 진료(Orphan Encounter)       : 0 건</a:t>
            </a:r>
          </a:p>
          <a:p>
            <a:pPr>
              <a:defRPr sz="1000" b="1">
                <a:solidFill>
                  <a:srgbClr val="EA580C"/>
                </a:solidFill>
                <a:latin typeface="Malgun Gothic"/>
              </a:defRPr>
            </a:pPr>
            <a:r>
              <a:t>의사 배치 없는 진료과목                       : 0 건</a:t>
            </a:r>
          </a:p>
          <a:p>
            <a:pPr>
              <a:defRPr sz="1000" b="1">
                <a:solidFill>
                  <a:srgbClr val="EA580C"/>
                </a:solidFill>
                <a:latin typeface="Malgun Gothic"/>
              </a:defRPr>
            </a:pPr>
            <a:r>
              <a:t>타임스탬프 시계열 역전 건수                     : 0 건</a:t>
            </a:r>
          </a:p>
          <a:p>
            <a:pPr>
              <a:defRPr sz="1000" b="1">
                <a:solidFill>
                  <a:srgbClr val="EA580C"/>
                </a:solidFill>
                <a:latin typeface="Malgun Gothic"/>
              </a:defRPr>
            </a:pPr>
            <a:r>
              <a:t>청구-수납 금융 불일치율                       : 0.14% (정합도 99.86%)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3093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Malgun Gothic"/>
              </a:defRPr>
            </a:pPr>
            <a:r>
              <a:t>팀 3 · 외래 EMR 데이터 분석 보고서 · 기준: 정제 DB (격리 데이터 제외)                                                                                                         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917"/>
          </a:solidFill>
          <a:ln>
            <a:solidFill>
              <a:srgbClr val="1C19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2011680"/>
            <a:ext cx="822960" cy="822960"/>
          </a:xfrm>
          <a:prstGeom prst="ellipse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8FAFC"/>
                </a:solidFill>
                <a:latin typeface="Malgun Gothic"/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192024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Malgun Gothic"/>
              </a:defRPr>
            </a:pPr>
            <a:r>
              <a:t>어디서 병목이 터졌나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310896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6D3D1"/>
                </a:solidFill>
                <a:latin typeface="Malgun Gothic"/>
              </a:defRPr>
            </a:pPr>
            <a:r>
              <a:t>외래 환자의 여정은 예약에서 시작해 수납에서 끝납니다.</a:t>
            </a:r>
          </a:p>
          <a:p>
            <a:pPr>
              <a:defRPr sz="1400">
                <a:solidFill>
                  <a:srgbClr val="D6D3D1"/>
                </a:solidFill>
                <a:latin typeface="Malgun Gothic"/>
              </a:defRPr>
            </a:pPr>
            <a:r>
              <a:t>환자가 진료를 포기하고 돌아선 곳은 진료실이 아니라, '접수 창구의 긴 줄'이었습니다.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4748B"/>
                </a:solidFill>
                <a:latin typeface="Malgun Gothic"/>
              </a:defRPr>
            </a:pPr>
            <a:r>
              <a:t>2부 · 어디서 병목이 터졌나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Malgun Gothic"/>
              </a:defRPr>
            </a:pPr>
            <a:r>
              <a:t>접수 창구에서 8.1만 명이 진료를 포기하고 돌아섰다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Malgun Gothic"/>
              </a:defRPr>
            </a:pPr>
            <a:r>
              <a:t>예약에서 접수, 진료, 수납으로 이어지는 외래 전주기 퍼널 분석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201168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20116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64748B"/>
                </a:solidFill>
                <a:latin typeface="Malgun Gothic"/>
              </a:defRPr>
            </a:pPr>
            <a:r>
              <a:t>1. 외래 예약</a:t>
            </a:r>
          </a:p>
          <a:p>
            <a:pPr algn="ctr">
              <a:defRPr sz="1700" b="1">
                <a:solidFill>
                  <a:srgbClr val="1E293B"/>
                </a:solidFill>
                <a:latin typeface="Malgun Gothic"/>
              </a:defRPr>
            </a:pPr>
            <a:r>
              <a:t>71.4 만 건</a:t>
            </a:r>
          </a:p>
          <a:p>
            <a:pPr algn="ctr">
              <a:defRPr sz="950">
                <a:solidFill>
                  <a:srgbClr val="64748B"/>
                </a:solidFill>
                <a:latin typeface="Malgun Gothic"/>
              </a:defRPr>
            </a:pPr>
            <a:r>
              <a:t>노쇼 15% 발생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07791" y="1737360"/>
            <a:ext cx="201168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07791" y="1828800"/>
            <a:ext cx="20116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64748B"/>
                </a:solidFill>
                <a:latin typeface="Malgun Gothic"/>
              </a:defRPr>
            </a:pPr>
            <a:r>
              <a:t>2. 원무 접수</a:t>
            </a:r>
          </a:p>
          <a:p>
            <a:pPr algn="ctr">
              <a:defRPr sz="1700" b="1">
                <a:solidFill>
                  <a:srgbClr val="1E293B"/>
                </a:solidFill>
                <a:latin typeface="Malgun Gothic"/>
              </a:defRPr>
            </a:pPr>
            <a:r>
              <a:t>84.3 만 건</a:t>
            </a:r>
          </a:p>
          <a:p>
            <a:pPr algn="ctr">
              <a:defRPr sz="950">
                <a:solidFill>
                  <a:srgbClr val="64748B"/>
                </a:solidFill>
                <a:latin typeface="Malgun Gothic"/>
              </a:defRPr>
            </a:pPr>
            <a:r>
              <a:t>워크인 33% 집중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84064" y="1737360"/>
            <a:ext cx="2011680" cy="2011680"/>
          </a:xfrm>
          <a:prstGeom prst="roundRect">
            <a:avLst/>
          </a:prstGeom>
          <a:solidFill>
            <a:srgbClr val="FEF2F2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84064" y="1828800"/>
            <a:ext cx="20116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64748B"/>
                </a:solidFill>
                <a:latin typeface="Malgun Gothic"/>
              </a:defRPr>
            </a:pPr>
            <a:r>
              <a:t>3. 진료 대기 이탈</a:t>
            </a:r>
          </a:p>
          <a:p>
            <a:pPr algn="ctr">
              <a:defRPr sz="1700" b="1">
                <a:solidFill>
                  <a:srgbClr val="EA580C"/>
                </a:solidFill>
                <a:latin typeface="Malgun Gothic"/>
              </a:defRPr>
            </a:pPr>
            <a:r>
              <a:t>8.1 만 명 (LEFT)</a:t>
            </a:r>
          </a:p>
          <a:p>
            <a:pPr algn="ctr">
              <a:defRPr sz="950">
                <a:solidFill>
                  <a:srgbClr val="64748B"/>
                </a:solidFill>
                <a:latin typeface="Malgun Gothic"/>
              </a:defRPr>
            </a:pPr>
            <a:r>
              <a:t>평균 19.4분 대기 지연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60336" y="1737360"/>
            <a:ext cx="201168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60336" y="1828800"/>
            <a:ext cx="20116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64748B"/>
                </a:solidFill>
                <a:latin typeface="Malgun Gothic"/>
              </a:defRPr>
            </a:pPr>
            <a:r>
              <a:t>4. 의사 진료 완료</a:t>
            </a:r>
          </a:p>
          <a:p>
            <a:pPr algn="ctr">
              <a:defRPr sz="1700" b="1">
                <a:solidFill>
                  <a:srgbClr val="0284C7"/>
                </a:solidFill>
                <a:latin typeface="Malgun Gothic"/>
              </a:defRPr>
            </a:pPr>
            <a:r>
              <a:t>49.6 만 건</a:t>
            </a:r>
          </a:p>
          <a:p>
            <a:pPr algn="ctr">
              <a:defRPr sz="950">
                <a:solidFill>
                  <a:srgbClr val="64748B"/>
                </a:solidFill>
                <a:latin typeface="Malgun Gothic"/>
              </a:defRPr>
            </a:pPr>
            <a:r>
              <a:t>의사 1인당 279명 과부하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36608" y="1737360"/>
            <a:ext cx="201168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36608" y="1828800"/>
            <a:ext cx="20116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64748B"/>
                </a:solidFill>
                <a:latin typeface="Malgun Gothic"/>
              </a:defRPr>
            </a:pPr>
            <a:r>
              <a:t>5. 원무 최종 수납</a:t>
            </a:r>
          </a:p>
          <a:p>
            <a:pPr algn="ctr">
              <a:defRPr sz="1700" b="1">
                <a:solidFill>
                  <a:srgbClr val="1E293B"/>
                </a:solidFill>
                <a:latin typeface="Malgun Gothic"/>
              </a:defRPr>
            </a:pPr>
            <a:r>
              <a:t>73.2 만 건</a:t>
            </a:r>
          </a:p>
          <a:p>
            <a:pPr algn="ctr">
              <a:defRPr sz="950">
                <a:solidFill>
                  <a:srgbClr val="64748B"/>
                </a:solidFill>
                <a:latin typeface="Malgun Gothic"/>
              </a:defRPr>
            </a:pPr>
            <a:r>
              <a:t>실수납액 287.4억 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114800"/>
            <a:ext cx="10698480" cy="19202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206240"/>
            <a:ext cx="1033272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A580C"/>
                </a:solidFill>
                <a:latin typeface="Malgun Gothic"/>
              </a:defRPr>
            </a:pPr>
            <a:r>
              <a:t>! 이 퍼널이 증명하는 비즈니스 진실</a:t>
            </a:r>
          </a:p>
          <a:p>
            <a:pPr>
              <a:defRPr sz="1100">
                <a:solidFill>
                  <a:srgbClr val="1E293B"/>
                </a:solidFill>
                <a:latin typeface="Malgun Gothic"/>
              </a:defRPr>
            </a:pPr>
            <a:r>
              <a:t>① 환자가 병원을 찾지 않는 것이 아니다. 84.3만 건이 체크인했지만, 진료실에 도달하지 못한 환자가 8.1만 명에 달한다.</a:t>
            </a:r>
          </a:p>
          <a:p>
            <a:pPr>
              <a:defRPr sz="1100">
                <a:solidFill>
                  <a:srgbClr val="1E293B"/>
                </a:solidFill>
                <a:latin typeface="Malgun Gothic"/>
              </a:defRPr>
            </a:pPr>
            <a:r>
              <a:t>② 접수 창구의 워크인 쏠림(오전 9시, 오후 2시)과 긴 진료 대기시간(과밀 병원 19.4분)이 결합되어 중도 포기를 유발했다.</a:t>
            </a:r>
          </a:p>
          <a:p>
            <a:pPr>
              <a:defRPr sz="1100">
                <a:solidFill>
                  <a:srgbClr val="1E293B"/>
                </a:solidFill>
                <a:latin typeface="Malgun Gothic"/>
              </a:defRPr>
            </a:pPr>
            <a:r>
              <a:t>③ 이 8.1만 명의 이탈만 방어해도 병원 외래 진료 가동률과 원무 수익은 즉시 15% 이상 반등한다.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3093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Malgun Gothic"/>
              </a:defRPr>
            </a:pPr>
            <a:r>
              <a:t>팀 3 · 외래 EMR 데이터 분석 보고서 · 기준: 정제 DB (격리 데이터 제외)                                                                                                          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917"/>
          </a:solidFill>
          <a:ln>
            <a:solidFill>
              <a:srgbClr val="1C19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2011680"/>
            <a:ext cx="822960" cy="822960"/>
          </a:xfrm>
          <a:prstGeom prst="ellipse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8FAFC"/>
                </a:solidFill>
                <a:latin typeface="Malgun Gothic"/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192024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Malgun Gothic"/>
              </a:defRPr>
            </a:pPr>
            <a:r>
              <a:t>의사는 어디에 있는가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310896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6D3D1"/>
                </a:solidFill>
                <a:latin typeface="Malgun Gothic"/>
              </a:defRPr>
            </a:pPr>
            <a:r>
              <a:t>어떤 의사는 하루 종일 진료에 쫓겨 번아웃에 빠지고, 어떤 의사는 환자가 없어 진료실이 빕니다.</a:t>
            </a:r>
          </a:p>
          <a:p>
            <a:pPr>
              <a:defRPr sz="1400">
                <a:solidFill>
                  <a:srgbClr val="D6D3D1"/>
                </a:solidFill>
                <a:latin typeface="Malgun Gothic"/>
              </a:defRPr>
            </a:pPr>
            <a:r>
              <a:t>병원과 진료과목별로 의사 1인당 환자수를 쪼개면, 감춰져 있던 극심한 자원 양극화가 드러납니다.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4748B"/>
                </a:solidFill>
                <a:latin typeface="Malgun Gothic"/>
              </a:defRPr>
            </a:pPr>
            <a:r>
              <a:t>3부 · 의사는 어디에 있는가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Malgun Gothic"/>
              </a:defRPr>
            </a:pPr>
            <a:r>
              <a:t>병원은 총 환자수로 줄 세우면 안 된다 — 8.0배의 업무량 양극화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Malgun Gothic"/>
              </a:defRPr>
            </a:pPr>
            <a:r>
              <a:t>배치된 의사 수로 나누어야 진짜 과부하가 보인다 (과밀 279.3명 vs 유휴 34.7명)</a:t>
            </a:r>
          </a:p>
        </p:txBody>
      </p:sp>
      <p:pic>
        <p:nvPicPr>
          <p:cNvPr id="6" name="Picture 5" descr="차트_1_의사배치_양극화_분석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217920" cy="429768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132320" y="1645920"/>
          <a:ext cx="429768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280160"/>
                <a:gridCol w="1371600"/>
              </a:tblGrid>
              <a:tr h="4114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  <a:latin typeface="Malgun Gothic"/>
                        </a:defRPr>
                      </a:pPr>
                      <a:r>
                        <a:t>상태 분류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  <a:latin typeface="Malgun Gothic"/>
                        </a:defRPr>
                      </a:pPr>
                      <a:r>
                        <a:t>과목 수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  <a:latin typeface="Malgun Gothic"/>
                        </a:defRPr>
                      </a:pPr>
                      <a:r>
                        <a:t>의사 1인당 환자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과밀 (OVERLOADED)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1,373 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EA580C"/>
                          </a:solidFill>
                          <a:latin typeface="Malgun Gothic"/>
                        </a:defRPr>
                      </a:pPr>
                      <a:r>
                        <a:t>279.3 명 (19.4분 대기)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적정 (BALANCED)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229 개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150.2 명 (14.8분 대기)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유휴 (UNDERUTILIZED)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268 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34.7 명 (5.6분 대기)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132320" y="3566160"/>
            <a:ext cx="4297680" cy="2377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0" y="3657600"/>
            <a:ext cx="411480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A580C"/>
                </a:solidFill>
                <a:latin typeface="Malgun Gothic"/>
              </a:defRPr>
            </a:pPr>
            <a:r>
              <a:t>! 이 차트가 뜻하는 것</a:t>
            </a:r>
          </a:p>
          <a:p>
            <a:pPr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동일한 진료과목 내에서도 과밀 병원 의사는 유휴 병원 의사보다 8.0배 많은 환자를 보고 있다.</a:t>
            </a:r>
          </a:p>
          <a:p>
            <a:pPr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의사 1인당 환자수가 200명을 넘어가면 진료 대기시간이 평균 19.4분으로 치솟는다.</a:t>
            </a:r>
          </a:p>
          <a:p>
            <a:pPr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해결책은 의사를 무작정 더 뽑는 것이 아니라, 유휴 상태인 1,048명의 의사를 과밀 진료과에 '재배치'하는 것이다.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093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Malgun Gothic"/>
              </a:defRPr>
            </a:pPr>
            <a:r>
              <a:t>팀 3 · 외래 EMR 데이터 분석 보고서 · 기준: 정제 DB (격리 데이터 제외)                                                                                                          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917"/>
          </a:solidFill>
          <a:ln>
            <a:solidFill>
              <a:srgbClr val="1C19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2011680"/>
            <a:ext cx="822960" cy="822960"/>
          </a:xfrm>
          <a:prstGeom prst="ellipse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8FAFC"/>
                </a:solidFill>
                <a:latin typeface="Malgun Gothic"/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192024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Malgun Gothic"/>
              </a:defRPr>
            </a:pPr>
            <a:r>
              <a:t>시뮬레이션 — 옮기면 무엇이 바뀌나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310896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6D3D1"/>
                </a:solidFill>
                <a:latin typeface="Malgun Gothic"/>
              </a:defRPr>
            </a:pPr>
            <a:r>
              <a:t>신규 채용 예산 0원. 기존 전체 의사 정원 4,748명 유지.</a:t>
            </a:r>
          </a:p>
          <a:p>
            <a:pPr>
              <a:defRPr sz="1400">
                <a:solidFill>
                  <a:srgbClr val="D6D3D1"/>
                </a:solidFill>
                <a:latin typeface="Malgun Gothic"/>
              </a:defRPr>
            </a:pPr>
            <a:r>
              <a:t>동일 진료과목 내 유휴 의사를 과밀 병원에 최적 재배치했을 때의 시스템적 변화를 검증했습니다.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4748B"/>
                </a:solidFill>
                <a:latin typeface="Malgun Gothic"/>
              </a:defRPr>
            </a:pPr>
            <a:r>
              <a:t>4부 · 시뮬레이션 — 옮기면 무엇이 바뀌나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Malgun Gothic"/>
              </a:defRPr>
            </a:pPr>
            <a:r>
              <a:t>업무 부담은 -45% 줄고 , 대기시간은 -43% 단축됐다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Malgun Gothic"/>
              </a:defRPr>
            </a:pPr>
            <a:r>
              <a:t>동일 진료과목 내 순환 재배치 알고리즘 적용 시뮬레이션 결과</a:t>
            </a:r>
          </a:p>
        </p:txBody>
      </p:sp>
      <p:pic>
        <p:nvPicPr>
          <p:cNvPr id="6" name="Picture 5" descr="차트_2_의사_최적재배치_시뮬레이션_효과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212080" cy="3291840"/>
          </a:xfrm>
          <a:prstGeom prst="rect">
            <a:avLst/>
          </a:prstGeom>
        </p:spPr>
      </p:pic>
      <p:pic>
        <p:nvPicPr>
          <p:cNvPr id="7" name="Picture 6" descr="차트_3_의사재배치_대기시간_단축효과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45920"/>
            <a:ext cx="5212080" cy="329184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5029200"/>
          <a:ext cx="1069848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651760"/>
                <a:gridCol w="2651760"/>
                <a:gridCol w="2651760"/>
              </a:tblGrid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  <a:latin typeface="Malgun Gothic"/>
                        </a:defRPr>
                      </a:pPr>
                      <a:r>
                        <a:t>핵심 성과 지표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  <a:latin typeface="Malgun Gothic"/>
                        </a:defRPr>
                      </a:pPr>
                      <a:r>
                        <a:t>재배치 전 (AS-IS)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  <a:latin typeface="Malgun Gothic"/>
                        </a:defRPr>
                      </a:pPr>
                      <a:r>
                        <a:t>최적 재배치 후 (TO-BE)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  <a:latin typeface="Malgun Gothic"/>
                        </a:defRPr>
                      </a:pPr>
                      <a:r>
                        <a:t>개선 임팩트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과밀 병원 의사 1인당 환자수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279.3 명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153.9 명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EA580C"/>
                          </a:solidFill>
                          <a:latin typeface="Malgun Gothic"/>
                        </a:defRPr>
                      </a:pPr>
                      <a:r>
                        <a:t>▼ 125.4명 (-44.9% 경감)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과밀 병원 외래 평균 대기시간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19.4 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11.0 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EA580C"/>
                          </a:solidFill>
                          <a:latin typeface="Malgun Gothic"/>
                        </a:defRPr>
                      </a:pPr>
                      <a:r>
                        <a:t>▼ 8.4분 (-43.2% 단축)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63093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Malgun Gothic"/>
              </a:defRPr>
            </a:pPr>
            <a:r>
              <a:t>팀 3 · 외래 EMR 데이터 분석 보고서 · 기준: 정제 DB (격리 데이터 제외)                                                                                                          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917"/>
          </a:solidFill>
          <a:ln>
            <a:solidFill>
              <a:srgbClr val="1C19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2011680"/>
            <a:ext cx="822960" cy="822960"/>
          </a:xfrm>
          <a:prstGeom prst="ellipse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8FAFC"/>
                </a:solidFill>
                <a:latin typeface="Malgun Gothic"/>
              </a:defRPr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192024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Malgun Gothic"/>
              </a:defRPr>
            </a:pPr>
            <a:r>
              <a:t>무엇을 할 것인가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310896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6D3D1"/>
                </a:solidFill>
                <a:latin typeface="Malgun Gothic"/>
              </a:defRPr>
            </a:pPr>
            <a:r>
              <a:t>앞의 숫자에서 바로 나오는 다섯 가지 제안입니다. 각 항목에 근거를 명시했습니다.</a:t>
            </a:r>
          </a:p>
          <a:p>
            <a:pPr>
              <a:defRPr sz="1400">
                <a:solidFill>
                  <a:srgbClr val="D6D3D1"/>
                </a:solidFill>
                <a:latin typeface="Malgun Gothic"/>
              </a:defRPr>
            </a:pPr>
            <a:r>
              <a:t>데이터가 받쳐 주지 않는 막연한 제안은 단 하나도 넣지 않았습니다.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4748B"/>
                </a:solidFill>
                <a:latin typeface="Malgun Gothic"/>
              </a:defRPr>
            </a:pPr>
            <a:r>
              <a:t>5부 · 무엇을 할 것인가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Malgun Gothic"/>
              </a:defRPr>
            </a:pPr>
            <a:r>
              <a:t>다섯 가지 제안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Malgun Gothic"/>
              </a:defRPr>
            </a:pPr>
            <a:r>
              <a:t>왼쪽이 구체적 실행 방안 , 오른쪽이 데이터가 증명한 핵심 근거 수치다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69848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1783080"/>
            <a:ext cx="320040" cy="320040"/>
          </a:xfrm>
          <a:prstGeom prst="ellipse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  <a:latin typeface="Malgun Gothic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719072"/>
            <a:ext cx="7315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E293B"/>
                </a:solidFill>
                <a:latin typeface="Malgun Gothic"/>
              </a:defRPr>
            </a:pPr>
            <a:r>
              <a:t>리드타임 21일 초과 예약군에 D-3 리마인드 알림톡 발송</a:t>
            </a:r>
          </a:p>
          <a:p>
            <a:pPr>
              <a:defRPr sz="950">
                <a:solidFill>
                  <a:srgbClr val="64748B"/>
                </a:solidFill>
                <a:latin typeface="Malgun Gothic"/>
              </a:defRPr>
            </a:pPr>
            <a:r>
              <a:t>예약 선행기간이 길어질수록 노쇼율이 급증하여 진료 슬롯의 공실을 유발한다. 사전 재확인 링크 발송으로 빈 슬롯을 사전 방어한다.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1719072"/>
            <a:ext cx="25603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EA580C"/>
                </a:solidFill>
                <a:latin typeface="Malgun Gothic"/>
              </a:defRPr>
            </a:pPr>
            <a:r>
              <a:t>15.0%</a:t>
            </a:r>
          </a:p>
          <a:p>
            <a:pPr algn="r">
              <a:defRPr sz="900">
                <a:solidFill>
                  <a:srgbClr val="64748B"/>
                </a:solidFill>
                <a:latin typeface="Malgun Gothic"/>
              </a:defRPr>
            </a:pPr>
            <a:r>
              <a:t>노쇼율 방어 목표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42032"/>
            <a:ext cx="1069848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8680" y="2679192"/>
            <a:ext cx="320040" cy="320040"/>
          </a:xfrm>
          <a:prstGeom prst="ellipse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  <a:latin typeface="Malgun Gothic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615184"/>
            <a:ext cx="7315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E293B"/>
                </a:solidFill>
                <a:latin typeface="Malgun Gothic"/>
              </a:defRPr>
            </a:pPr>
            <a:r>
              <a:t>오전 9시·오후 2시 피크타임 모바일 QR 스마트 체크인 전면 도입</a:t>
            </a:r>
          </a:p>
          <a:p>
            <a:pPr>
              <a:defRPr sz="950">
                <a:solidFill>
                  <a:srgbClr val="64748B"/>
                </a:solidFill>
                <a:latin typeface="Malgun Gothic"/>
              </a:defRPr>
            </a:pPr>
            <a:r>
              <a:t>전체 외래의 33%가 당일 현장 접수 환자다. 창구 병목을 모바일로 분산시켜 접수 대기시간을 50% 이상 단축한다.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2615184"/>
            <a:ext cx="25603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EA580C"/>
                </a:solidFill>
                <a:latin typeface="Malgun Gothic"/>
              </a:defRPr>
            </a:pPr>
            <a:r>
              <a:t>33.0%</a:t>
            </a:r>
          </a:p>
          <a:p>
            <a:pPr algn="r">
              <a:defRPr sz="900">
                <a:solidFill>
                  <a:srgbClr val="64748B"/>
                </a:solidFill>
                <a:latin typeface="Malgun Gothic"/>
              </a:defRPr>
            </a:pPr>
            <a:r>
              <a:t>당일 워크인 비중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438144"/>
            <a:ext cx="1069848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3575304"/>
            <a:ext cx="320040" cy="320040"/>
          </a:xfrm>
          <a:prstGeom prst="ellipse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  <a:latin typeface="Malgun Gothic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511296"/>
            <a:ext cx="7315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E293B"/>
                </a:solidFill>
                <a:latin typeface="Malgun Gothic"/>
              </a:defRPr>
            </a:pPr>
            <a:r>
              <a:t>동일 진료과목 내 유휴 의사를 과밀 병원에 순환 파견 배치</a:t>
            </a:r>
          </a:p>
          <a:p>
            <a:pPr>
              <a:defRPr sz="950">
                <a:solidFill>
                  <a:srgbClr val="64748B"/>
                </a:solidFill>
                <a:latin typeface="Malgun Gothic"/>
              </a:defRPr>
            </a:pPr>
            <a:r>
              <a:t>신규 채용 없이 동일 전문과목 유휴 인력(+1 FTE) 순환 근무를 통해 과밀 병원 의사 부담을 절반 가까이 경감한다.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3511296"/>
            <a:ext cx="25603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EA580C"/>
                </a:solidFill>
                <a:latin typeface="Malgun Gothic"/>
              </a:defRPr>
            </a:pPr>
            <a:r>
              <a:t>-44.9%</a:t>
            </a:r>
          </a:p>
          <a:p>
            <a:pPr algn="r">
              <a:defRPr sz="900">
                <a:solidFill>
                  <a:srgbClr val="64748B"/>
                </a:solidFill>
                <a:latin typeface="Malgun Gothic"/>
              </a:defRPr>
            </a:pPr>
            <a:r>
              <a:t>의사 1인당 환자수 경감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334256"/>
            <a:ext cx="1069848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680" y="4471416"/>
            <a:ext cx="320040" cy="320040"/>
          </a:xfrm>
          <a:prstGeom prst="ellipse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  <a:latin typeface="Malgun Gothic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407408"/>
            <a:ext cx="7315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E293B"/>
                </a:solidFill>
                <a:latin typeface="Malgun Gothic"/>
              </a:defRPr>
            </a:pPr>
            <a:r>
              <a:t>외래 대기시간 11분대 관리로 접수 후 이탈(LEFT 8.1만 건) 회복</a:t>
            </a:r>
          </a:p>
          <a:p>
            <a:pPr>
              <a:defRPr sz="950">
                <a:solidFill>
                  <a:srgbClr val="64748B"/>
                </a:solidFill>
                <a:latin typeface="Malgun Gothic"/>
              </a:defRPr>
            </a:pPr>
            <a:r>
              <a:t>대기시간을 19.4분에서 11.0분으로 단축하여, 대기 지연을 견디지 못하고 진료를 포기하던 8.1만 명의 환자를 진료실로 이끈다.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4407408"/>
            <a:ext cx="25603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EA580C"/>
                </a:solidFill>
                <a:latin typeface="Malgun Gothic"/>
              </a:defRPr>
            </a:pPr>
            <a:r>
              <a:t>-43.2%</a:t>
            </a:r>
          </a:p>
          <a:p>
            <a:pPr algn="r">
              <a:defRPr sz="900">
                <a:solidFill>
                  <a:srgbClr val="64748B"/>
                </a:solidFill>
                <a:latin typeface="Malgun Gothic"/>
              </a:defRPr>
            </a:pPr>
            <a:r>
              <a:t>외래 대기시간 단축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230368"/>
            <a:ext cx="1069848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68680" y="5367528"/>
            <a:ext cx="320040" cy="320040"/>
          </a:xfrm>
          <a:prstGeom prst="ellipse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  <a:latin typeface="Malgun Gothic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303520"/>
            <a:ext cx="7315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E293B"/>
                </a:solidFill>
                <a:latin typeface="Malgun Gothic"/>
              </a:defRPr>
            </a:pPr>
            <a:r>
              <a:t>회복된 외래 환자수 기반 진료과목별 수가(Service Fee) 극대화</a:t>
            </a:r>
          </a:p>
          <a:p>
            <a:pPr>
              <a:defRPr sz="950">
                <a:solidFill>
                  <a:srgbClr val="64748B"/>
                </a:solidFill>
                <a:latin typeface="Malgun Gothic"/>
              </a:defRPr>
            </a:pPr>
            <a:r>
              <a:t>1진료당 평균 3건의 처치 수가가 연동된다. 이탈 방지로 회복된 환자수는 병원 외래 순매출 증대로 직결된다.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5303520"/>
            <a:ext cx="25603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EA580C"/>
                </a:solidFill>
                <a:latin typeface="Malgun Gothic"/>
              </a:defRPr>
            </a:pPr>
            <a:r>
              <a:t>99.86%</a:t>
            </a:r>
          </a:p>
          <a:p>
            <a:pPr algn="r">
              <a:defRPr sz="900">
                <a:solidFill>
                  <a:srgbClr val="64748B"/>
                </a:solidFill>
                <a:latin typeface="Malgun Gothic"/>
              </a:defRPr>
            </a:pPr>
            <a:r>
              <a:t>청구-수납 금융 정합도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3093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Malgun Gothic"/>
              </a:defRPr>
            </a:pPr>
            <a:r>
              <a:t>팀 3 · 외래 EMR 데이터 분석 보고서 · 기준: 정제 DB (격리 데이터 제외)                                                                                                           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917"/>
          </a:solidFill>
          <a:ln>
            <a:solidFill>
              <a:srgbClr val="1C19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Malgun Gothic"/>
              </a:defRPr>
            </a:pPr>
            <a:r>
              <a:t>이 보고서가 말하지 않는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A580C"/>
                </a:solidFill>
                <a:latin typeface="Malgun Gothic"/>
              </a:defRPr>
            </a:pPr>
            <a:r>
              <a:t>분석에는 한계가 있고 , 그것을 명확히 적는 것까지가 데이터 분석의 영역입니다 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32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D6D3D1"/>
                </a:solidFill>
                <a:latin typeface="Malgun Gothic"/>
              </a:defRPr>
            </a:pPr>
            <a:r>
              <a:t>• 의사의 물리적 강제 이직을 뜻하지 않는다 — 본 시뮬레이션은 거시적 T.O 조정 및 네트워크 순환 파견 진료 시 얻을 수 있는 '시스템적 최대 효율(Upper Bound)'을 모델링한 것이다.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34640"/>
            <a:ext cx="10332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D6D3D1"/>
                </a:solidFill>
                <a:latin typeface="Malgun Gothic"/>
              </a:defRPr>
            </a:pPr>
            <a:r>
              <a:t>• 병동 및 수술 데이터는 포함하지 않았다 — 본 분석은 순수 외래(Outpatient) 진료 및 원무 접수 데이터를 기준으로 하였으며, 입원·수술실 부하는 제외되었다.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66160"/>
            <a:ext cx="10332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D6D3D1"/>
                </a:solidFill>
                <a:latin typeface="Malgun Gothic"/>
              </a:defRPr>
            </a:pPr>
            <a:r>
              <a:t>• 임상 중증도(Severity)는 동일 가정했다 — 실제 병원별 환자의 질환 중증도에 따라 진료 시간이 달라질 수 있으므로, 향후 진단명(ICD-10) 가중치를 결합해야 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297680"/>
            <a:ext cx="10332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D6D3D1"/>
                </a:solidFill>
                <a:latin typeface="Malgun Gothic"/>
              </a:defRPr>
            </a:pPr>
            <a:r>
              <a:t>• 업무 부하 기준(200명/100명)은 통계적 절단값이다 — 운영 환경과 학회 가이드라인에 따라 기준선이 변경될 수 있으며, 수치가 바뀌면 결과도 달라지므로 기준을 항상 명시했다.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035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A580C"/>
                </a:solidFill>
                <a:latin typeface="Malgun Gothic"/>
              </a:defRPr>
            </a:pPr>
            <a:r>
              <a:t>다음에 검증할 것 —</a:t>
            </a:r>
          </a:p>
          <a:p>
            <a:pPr>
              <a:defRPr sz="1100">
                <a:solidFill>
                  <a:srgbClr val="F8FAFC"/>
                </a:solidFill>
                <a:latin typeface="Malgun Gothic"/>
              </a:defRPr>
            </a:pPr>
            <a:r>
              <a:t>① 진료과목별 질환 중증도(Severity) 반영 다변량 회귀 모형  ② 요일·시간대별 실시간 동적 슬롯 배정 알고리즘  ③ 순환 파견 의료진 만족도 및 지속가능성 평가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917"/>
          </a:solidFill>
          <a:ln>
            <a:solidFill>
              <a:srgbClr val="1C19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Malgun Gothic"/>
              </a:defRPr>
            </a:pPr>
            <a:r>
              <a:t>한 장으로 다시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F8FAFC"/>
                </a:solidFill>
                <a:latin typeface="Malgun Gothic"/>
              </a:defRPr>
            </a:pPr>
            <a:r>
              <a:t>환자는 넘쳐났지만 , 긴 대기 시간을 견디지 못한 8.1만 명이 진료를 포기하고 돌아섰습니다 .</a:t>
            </a:r>
          </a:p>
          <a:p>
            <a:pPr>
              <a:defRPr sz="1500" b="0">
                <a:solidFill>
                  <a:srgbClr val="F8FAFC"/>
                </a:solidFill>
                <a:latin typeface="Malgun Gothic"/>
              </a:defRPr>
            </a:pPr>
            <a:r>
              <a:t>동일 진료과목 안에서도 어떤 의사는 279명을 보며 지쳐갔고 , 어떤 의사는 35명에 머물렀습니다 .</a:t>
            </a:r>
          </a:p>
          <a:p>
            <a:pPr>
              <a:defRPr sz="1500" b="0">
                <a:solidFill>
                  <a:srgbClr val="F8FAFC"/>
                </a:solidFill>
                <a:latin typeface="Malgun Gothic"/>
              </a:defRPr>
            </a:pPr>
            <a:r>
              <a:t>문제의 본질은 의사의 수가 아니라 '배치의 극심한 불균형(8.0배)'이었습니다 .</a:t>
            </a:r>
          </a:p>
          <a:p>
            <a:pPr>
              <a:defRPr sz="1500" b="1">
                <a:solidFill>
                  <a:srgbClr val="EA580C"/>
                </a:solidFill>
                <a:latin typeface="Malgun Gothic"/>
              </a:defRPr>
            </a:pPr>
            <a:r>
              <a:t>신규 채용 없이 동일 과목 유휴 의사를 과밀 병원에 최적 재배치하는 것만으로 ,</a:t>
            </a:r>
          </a:p>
          <a:p>
            <a:pPr>
              <a:defRPr sz="1500" b="1">
                <a:solidFill>
                  <a:srgbClr val="EA580C"/>
                </a:solidFill>
                <a:latin typeface="Malgun Gothic"/>
              </a:defRPr>
            </a:pPr>
            <a:r>
              <a:t>과밀 병원 의사 업무량은 -45% 줄고 , 평균 외래 대기시간은 19.4분에서 11.0분으로 단축됩니다 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A580C"/>
                </a:solidFill>
                <a:latin typeface="Malgun Gothic"/>
              </a:defRPr>
            </a:pPr>
            <a:r>
              <a:t>가장 먼저 — 접수 피크타임 모바일 스마트 체크인으로 대기 병목을 풀고 ,</a:t>
            </a:r>
          </a:p>
          <a:p>
            <a:pPr>
              <a:defRPr sz="1600" b="1">
                <a:solidFill>
                  <a:srgbClr val="F8FAFC"/>
                </a:solidFill>
                <a:latin typeface="Malgun Gothic"/>
              </a:defRPr>
            </a:pPr>
            <a:r>
              <a:t>동일 진료과 유휴 의사 순환 파견을 통해 과밀 병원 외래 대기시간을 11분대로 지켜냅니다 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03504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8A29E"/>
                </a:solidFill>
                <a:latin typeface="Malgun Gothic"/>
              </a:defRPr>
            </a:pPr>
            <a:r>
              <a:t>모든 숫자는 490개 병원 정제 DB 기준(격리 데이터 제외) . 실습용 가상 EMR 데이터입니다 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